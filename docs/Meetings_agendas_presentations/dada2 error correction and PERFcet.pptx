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56" r:id="rId6"/>
    <p:sldId id="257" r:id="rId7"/>
    <p:sldId id="267" r:id="rId8"/>
    <p:sldId id="258" r:id="rId9"/>
    <p:sldId id="264" r:id="rId10"/>
    <p:sldId id="265" r:id="rId11"/>
    <p:sldId id="266" r:id="rId12"/>
    <p:sldId id="259" r:id="rId13"/>
    <p:sldId id="260" r:id="rId14"/>
    <p:sldId id="261" r:id="rId15"/>
    <p:sldId id="262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60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05000"/>
            <a:ext cx="5531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Base qiime2 data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333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view.qiime2.org/_/l7lwdrupuj/d673ad70-ea53-402a-b49e-c3c3450e1852/data/demultiplex-summary-forward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ttps://view.qiime2.org/_/l7lwdrupuj/d673ad70-ea53-402a-b49e-c3c3450e1852/data/demultiplex-summary-forward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ttps://view.qiime2.org/_/l7lwdrupuj/d673ad70-ea53-402a-b49e-c3c3450e1852/data/demultiplex-summary-forward.png"/>
          <p:cNvSpPr>
            <a:spLocks noChangeAspect="1" noChangeArrowheads="1"/>
          </p:cNvSpPr>
          <p:nvPr/>
        </p:nvSpPr>
        <p:spPr bwMode="auto">
          <a:xfrm>
            <a:off x="3436949" y="3109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625" y="228600"/>
            <a:ext cx="4619956" cy="3464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53539" y="43934"/>
            <a:ext cx="132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ITS raw data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98" r="49335" b="11170"/>
          <a:stretch/>
        </p:blipFill>
        <p:spPr bwMode="auto">
          <a:xfrm>
            <a:off x="4354518" y="3581400"/>
            <a:ext cx="4784166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10" descr="https://view.qiime2.org/_/awda221gtpw/e239ef93-77dc-4628-b85a-0ce8e87e0513/data/demultiplex-summary-forward.png"/>
          <p:cNvSpPr>
            <a:spLocks noChangeAspect="1" noChangeArrowheads="1"/>
          </p:cNvSpPr>
          <p:nvPr/>
        </p:nvSpPr>
        <p:spPr bwMode="auto">
          <a:xfrm>
            <a:off x="3589349" y="4633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1" y="228600"/>
            <a:ext cx="4681466" cy="351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" t="62774" r="50698" b="11834"/>
          <a:stretch/>
        </p:blipFill>
        <p:spPr bwMode="auto">
          <a:xfrm>
            <a:off x="-20542" y="3665215"/>
            <a:ext cx="4437443" cy="261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03311" y="160338"/>
            <a:ext cx="13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16S 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375" y="5181600"/>
            <a:ext cx="3311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1731 samples, 266kreads/sample</a:t>
            </a:r>
          </a:p>
          <a:p>
            <a:pPr algn="ctr"/>
            <a:r>
              <a:rPr lang="en-US" dirty="0" smtClean="0"/>
              <a:t>460M total reads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62786" y="5185144"/>
            <a:ext cx="3311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1731 samples, 162kreads/sample</a:t>
            </a:r>
          </a:p>
          <a:p>
            <a:pPr algn="ctr"/>
            <a:r>
              <a:rPr lang="en-US" dirty="0" smtClean="0"/>
              <a:t>280M total 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7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898" y="1676400"/>
            <a:ext cx="4191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qiime</a:t>
            </a:r>
            <a:r>
              <a:rPr lang="en-US" sz="1200" dirty="0"/>
              <a:t> dada2 </a:t>
            </a:r>
            <a:r>
              <a:rPr lang="en-US" sz="1200" dirty="0" err="1"/>
              <a:t>denoise</a:t>
            </a:r>
            <a:r>
              <a:rPr lang="en-US" sz="1200" dirty="0"/>
              <a:t>-paired \</a:t>
            </a:r>
          </a:p>
          <a:p>
            <a:r>
              <a:rPr lang="en-US" sz="1200" dirty="0"/>
              <a:t>--i-</a:t>
            </a:r>
            <a:r>
              <a:rPr lang="en-US" sz="1200" dirty="0" err="1"/>
              <a:t>demultiplexed</a:t>
            </a:r>
            <a:r>
              <a:rPr lang="en-US" sz="1200" dirty="0"/>
              <a:t>-</a:t>
            </a:r>
            <a:r>
              <a:rPr lang="en-US" sz="1200" dirty="0" err="1"/>
              <a:t>seqs</a:t>
            </a:r>
            <a:r>
              <a:rPr lang="en-US" sz="1200" dirty="0"/>
              <a:t> 16S_preDada2_TrimmedPrimers.qza \</a:t>
            </a:r>
          </a:p>
          <a:p>
            <a:r>
              <a:rPr lang="en-US" sz="1200" dirty="0"/>
              <a:t>--p-</a:t>
            </a:r>
            <a:r>
              <a:rPr lang="en-US" sz="1200" dirty="0" err="1"/>
              <a:t>trunc</a:t>
            </a:r>
            <a:r>
              <a:rPr lang="en-US" sz="1200" dirty="0"/>
              <a:t>-</a:t>
            </a:r>
            <a:r>
              <a:rPr lang="en-US" sz="1200" dirty="0" err="1"/>
              <a:t>len</a:t>
            </a:r>
            <a:r>
              <a:rPr lang="en-US" sz="1200" dirty="0"/>
              <a:t>-f 0 \</a:t>
            </a:r>
          </a:p>
          <a:p>
            <a:r>
              <a:rPr lang="en-US" sz="1200" dirty="0"/>
              <a:t>--p-</a:t>
            </a:r>
            <a:r>
              <a:rPr lang="en-US" sz="1200" dirty="0" err="1"/>
              <a:t>trunc</a:t>
            </a:r>
            <a:r>
              <a:rPr lang="en-US" sz="1200" dirty="0"/>
              <a:t>-</a:t>
            </a:r>
            <a:r>
              <a:rPr lang="en-US" sz="1200" dirty="0" err="1"/>
              <a:t>len</a:t>
            </a:r>
            <a:r>
              <a:rPr lang="en-US" sz="1200" dirty="0"/>
              <a:t>-r 0 \</a:t>
            </a:r>
          </a:p>
          <a:p>
            <a:r>
              <a:rPr lang="en-US" sz="1200" dirty="0"/>
              <a:t>--p-max-</a:t>
            </a:r>
            <a:r>
              <a:rPr lang="en-US" sz="1200" dirty="0" err="1"/>
              <a:t>ee</a:t>
            </a:r>
            <a:r>
              <a:rPr lang="en-US" sz="1200" dirty="0"/>
              <a:t>-f 1 \</a:t>
            </a:r>
          </a:p>
          <a:p>
            <a:r>
              <a:rPr lang="en-US" sz="1200" dirty="0"/>
              <a:t>--p-max-</a:t>
            </a:r>
            <a:r>
              <a:rPr lang="en-US" sz="1200" dirty="0" err="1"/>
              <a:t>ee</a:t>
            </a:r>
            <a:r>
              <a:rPr lang="en-US" sz="1200" dirty="0"/>
              <a:t>-r 1 \</a:t>
            </a:r>
          </a:p>
          <a:p>
            <a:r>
              <a:rPr lang="en-US" sz="1200" dirty="0"/>
              <a:t>--p-n-threads 0 \</a:t>
            </a:r>
          </a:p>
          <a:p>
            <a:r>
              <a:rPr lang="en-US" sz="1200" dirty="0"/>
              <a:t>--o-table feature-table_16S_noTrunc.qza \</a:t>
            </a:r>
          </a:p>
          <a:p>
            <a:r>
              <a:rPr lang="en-US" sz="1200" dirty="0"/>
              <a:t>--o-representative-sequences rep-seqs_16S_noTrunc.qza \</a:t>
            </a:r>
          </a:p>
          <a:p>
            <a:r>
              <a:rPr lang="en-US" sz="1200" dirty="0"/>
              <a:t>--o-</a:t>
            </a:r>
            <a:r>
              <a:rPr lang="en-US" sz="1200" dirty="0" err="1"/>
              <a:t>denoising</a:t>
            </a:r>
            <a:r>
              <a:rPr lang="en-US" sz="1200" dirty="0"/>
              <a:t>-stats denoising-stats_16S_noTrunc.qza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46797"/>
              </p:ext>
            </p:extLst>
          </p:nvPr>
        </p:nvGraphicFramePr>
        <p:xfrm>
          <a:off x="4180554" y="221512"/>
          <a:ext cx="4798640" cy="637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283"/>
                <a:gridCol w="840028"/>
                <a:gridCol w="980329"/>
              </a:tblGrid>
              <a:tr h="57912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16S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ITS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Passed filter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85±2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80±6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Merged (%)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65±9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77±9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Non-chimeric (%)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52±14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75±9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Number of features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564K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20K</a:t>
                      </a:r>
                      <a:endParaRPr lang="en-US" sz="1600" b="1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Total frequency</a:t>
                      </a:r>
                      <a:endParaRPr lang="en-US" sz="1600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223M</a:t>
                      </a:r>
                      <a:endParaRPr lang="en-US" sz="1600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203M</a:t>
                      </a:r>
                      <a:endParaRPr lang="en-US" sz="1600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Non-microbial DNA</a:t>
                      </a:r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43%</a:t>
                      </a:r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25%</a:t>
                      </a:r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Frequency</a:t>
                      </a:r>
                      <a:r>
                        <a:rPr lang="en-US" sz="1600" baseline="0" dirty="0" smtClean="0"/>
                        <a:t> f</a:t>
                      </a:r>
                      <a:r>
                        <a:rPr lang="en-US" sz="1600" dirty="0" smtClean="0"/>
                        <a:t>iltered</a:t>
                      </a:r>
                      <a:r>
                        <a:rPr lang="en-US" sz="1600" baseline="0" dirty="0" smtClean="0"/>
                        <a:t> features (≥8)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148K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14K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Frequency</a:t>
                      </a:r>
                      <a:r>
                        <a:rPr lang="en-US" sz="1600" baseline="0" dirty="0" smtClean="0"/>
                        <a:t> f</a:t>
                      </a:r>
                      <a:r>
                        <a:rPr lang="en-US" sz="1600" dirty="0" smtClean="0"/>
                        <a:t>iltered</a:t>
                      </a:r>
                      <a:r>
                        <a:rPr lang="en-US" sz="1600" baseline="0" dirty="0" smtClean="0"/>
                        <a:t> reads(≥8)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123M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184M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Rarefaction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25K</a:t>
                      </a:r>
                      <a:endParaRPr lang="en-US" sz="16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Samples/ASVs lost at rarefaction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44/11K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64/0.2k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493" y="228600"/>
            <a:ext cx="37297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All pre-processing  done on qiime2</a:t>
            </a:r>
          </a:p>
          <a:p>
            <a:endParaRPr lang="en-US" sz="1600" dirty="0" smtClean="0"/>
          </a:p>
          <a:p>
            <a:r>
              <a:rPr lang="en-US" sz="1600" dirty="0"/>
              <a:t>No trimming of sequence edges</a:t>
            </a:r>
          </a:p>
          <a:p>
            <a:r>
              <a:rPr lang="en-US" sz="1600" dirty="0" err="1" smtClean="0"/>
              <a:t>Cutadapt</a:t>
            </a:r>
            <a:r>
              <a:rPr lang="en-US" sz="1600" dirty="0" smtClean="0"/>
              <a:t> plugin for primer removal</a:t>
            </a:r>
          </a:p>
          <a:p>
            <a:r>
              <a:rPr lang="en-US" sz="1600" dirty="0" smtClean="0"/>
              <a:t>Very basic dada2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90751"/>
            <a:ext cx="409528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Sklearn</a:t>
            </a:r>
            <a:r>
              <a:rPr lang="en-US" sz="1600" dirty="0" smtClean="0"/>
              <a:t> on retrained classifiers</a:t>
            </a:r>
          </a:p>
          <a:p>
            <a:r>
              <a:rPr lang="en-US" sz="1600" dirty="0" smtClean="0"/>
              <a:t>16S: Silva138, cut to size and primers</a:t>
            </a:r>
          </a:p>
          <a:p>
            <a:r>
              <a:rPr lang="en-US" sz="1600" dirty="0" smtClean="0"/>
              <a:t>ITS: Unite 8.3 developer version (no trimming)</a:t>
            </a:r>
          </a:p>
          <a:p>
            <a:endParaRPr lang="en-US" sz="1600" dirty="0"/>
          </a:p>
          <a:p>
            <a:r>
              <a:rPr lang="en-US" sz="1600" dirty="0" smtClean="0"/>
              <a:t>Non-microbial DNA based on taxa classification</a:t>
            </a:r>
          </a:p>
          <a:p>
            <a:r>
              <a:rPr lang="en-US" sz="1600" dirty="0" smtClean="0"/>
              <a:t>Filtering ASVs </a:t>
            </a:r>
            <a:r>
              <a:rPr lang="en-US" sz="1600" dirty="0"/>
              <a:t>≥</a:t>
            </a:r>
            <a:r>
              <a:rPr lang="en-US" sz="1600" dirty="0" smtClean="0"/>
              <a:t>8 (as in UNOISE ZOTUs)</a:t>
            </a:r>
          </a:p>
          <a:p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76200" y="36576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Takes </a:t>
            </a:r>
            <a:r>
              <a:rPr lang="en-US" sz="1200" b="1" dirty="0">
                <a:solidFill>
                  <a:srgbClr val="FF0000"/>
                </a:solidFill>
              </a:rPr>
              <a:t>6 days </a:t>
            </a:r>
            <a:r>
              <a:rPr lang="en-US" sz="1200" b="1" dirty="0"/>
              <a:t>to process with 10 CPUS, 128GB </a:t>
            </a:r>
            <a:r>
              <a:rPr lang="en-US" sz="1200" b="1" dirty="0" smtClean="0"/>
              <a:t>Ram (€50)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93460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05000"/>
            <a:ext cx="73195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Dada2 error correction</a:t>
            </a:r>
          </a:p>
          <a:p>
            <a:r>
              <a:rPr lang="en-US" sz="6000" b="1" dirty="0" err="1"/>
              <a:t>Ernakovich</a:t>
            </a:r>
            <a:r>
              <a:rPr lang="en-US" sz="6000" b="1" dirty="0"/>
              <a:t> </a:t>
            </a:r>
            <a:r>
              <a:rPr lang="en-US" sz="6000" dirty="0" smtClean="0"/>
              <a:t>lab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2098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39000" y="240268"/>
            <a:ext cx="18184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Standard dada2</a:t>
            </a:r>
          </a:p>
          <a:p>
            <a:endParaRPr lang="en-US" dirty="0" smtClean="0"/>
          </a:p>
          <a:p>
            <a:r>
              <a:rPr lang="en-US" dirty="0" smtClean="0"/>
              <a:t>Valley depression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Forward 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48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edro\Documents\! MICROP\Family_bioinformatics\NovaSeqDada2Fix\standard cutadapt parameters\errF_plot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1" y="240268"/>
            <a:ext cx="198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 correction version 1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Bumps and </a:t>
            </a:r>
            <a:r>
              <a:rPr lang="en-US" b="1" dirty="0" err="1" smtClean="0">
                <a:solidFill>
                  <a:srgbClr val="0070C0"/>
                </a:solidFill>
              </a:rPr>
              <a:t>flatlines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dirty="0"/>
          </a:p>
          <a:p>
            <a:r>
              <a:rPr lang="en-US" dirty="0" smtClean="0"/>
              <a:t>Forward reads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838200" y="3581400"/>
            <a:ext cx="9906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38400" y="3733800"/>
            <a:ext cx="9906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562600" y="3619500"/>
            <a:ext cx="9906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67200" y="869097"/>
            <a:ext cx="9906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87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1" y="240268"/>
            <a:ext cx="198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 correction version 2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0070C0"/>
                </a:solidFill>
              </a:rPr>
              <a:t>Bumps and </a:t>
            </a:r>
            <a:r>
              <a:rPr lang="en-US" b="1" dirty="0" err="1">
                <a:solidFill>
                  <a:srgbClr val="0070C0"/>
                </a:solidFill>
              </a:rPr>
              <a:t>flatlines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Forward reads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581400" y="625227"/>
            <a:ext cx="1676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81600" y="551954"/>
            <a:ext cx="1676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696878">
            <a:off x="956344" y="3505986"/>
            <a:ext cx="972408" cy="7436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72297" y="5562600"/>
            <a:ext cx="1676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9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1" y="240268"/>
            <a:ext cx="198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 correction version 3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Bumps and </a:t>
            </a:r>
            <a:r>
              <a:rPr lang="en-US" b="1" dirty="0" err="1">
                <a:solidFill>
                  <a:srgbClr val="0070C0"/>
                </a:solidFill>
              </a:rPr>
              <a:t>flatlines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dirty="0"/>
          </a:p>
          <a:p>
            <a:r>
              <a:rPr lang="en-US" dirty="0" smtClean="0"/>
              <a:t>Forward reads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 rot="1696878">
            <a:off x="942587" y="3560588"/>
            <a:ext cx="1202895" cy="7436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rot="1696878">
            <a:off x="5576120" y="3560589"/>
            <a:ext cx="1202895" cy="7436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06658" y="5422180"/>
            <a:ext cx="1202895" cy="7436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8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1" y="240268"/>
            <a:ext cx="1981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 correction version 4 </a:t>
            </a:r>
          </a:p>
          <a:p>
            <a:endParaRPr lang="en-US" dirty="0"/>
          </a:p>
          <a:p>
            <a:r>
              <a:rPr lang="en-US" b="1" dirty="0" smtClean="0"/>
              <a:t>No clear bumps  or </a:t>
            </a:r>
            <a:r>
              <a:rPr lang="en-US" b="1" dirty="0" err="1" smtClean="0"/>
              <a:t>flatlines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Optimal performance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Forward reads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788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05000"/>
            <a:ext cx="87763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err="1" smtClean="0"/>
              <a:t>PERFect</a:t>
            </a:r>
            <a:r>
              <a:rPr lang="en-US" sz="6000" dirty="0" smtClean="0"/>
              <a:t> package discussion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17069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" y="2551227"/>
            <a:ext cx="2819400" cy="17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" y="4764202"/>
            <a:ext cx="2819400" cy="17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04118"/>
            <a:ext cx="2819400" cy="17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485" y="4639342"/>
            <a:ext cx="2819400" cy="17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81000" y="738220"/>
            <a:ext cx="1406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"NP</a:t>
            </a:r>
            <a:r>
              <a:rPr lang="en-US" dirty="0" smtClean="0"/>
              <a:t>"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581400" y="700930"/>
            <a:ext cx="1406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</a:t>
            </a:r>
            <a:r>
              <a:rPr lang="en-US" dirty="0" smtClean="0"/>
              <a:t>NC"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870031" y="725269"/>
            <a:ext cx="1576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</a:t>
            </a:r>
            <a:r>
              <a:rPr lang="en-US" dirty="0" err="1" smtClean="0"/>
              <a:t>NCw</a:t>
            </a:r>
            <a:r>
              <a:rPr lang="en-US" dirty="0" smtClean="0"/>
              <a:t>"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65589" y="1030961"/>
            <a:ext cx="8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Alpha = 0.1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6884266" y="1094601"/>
            <a:ext cx="8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Alpha = 0.1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-15197" y="-1"/>
            <a:ext cx="180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PERFect_sim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1981200" y="91048"/>
            <a:ext cx="2387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Alpha = </a:t>
            </a:r>
            <a:r>
              <a:rPr lang="en-US" dirty="0" smtClean="0"/>
              <a:t>0.1</a:t>
            </a:r>
            <a:r>
              <a:rPr lang="en-US" dirty="0"/>
              <a:t>, </a:t>
            </a:r>
            <a:r>
              <a:rPr lang="en-US" dirty="0" err="1" smtClean="0"/>
              <a:t>distr</a:t>
            </a:r>
            <a:r>
              <a:rPr lang="en-US" dirty="0" smtClean="0"/>
              <a:t> = “</a:t>
            </a:r>
            <a:r>
              <a:rPr lang="en-US" dirty="0" err="1" smtClean="0"/>
              <a:t>sn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7043" y="1119123"/>
            <a:ext cx="1797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f</a:t>
            </a:r>
            <a:r>
              <a:rPr lang="en-US" sz="1400" dirty="0" err="1" smtClean="0"/>
              <a:t>it$value</a:t>
            </a:r>
            <a:endParaRPr lang="en-US" sz="1400" dirty="0"/>
          </a:p>
          <a:p>
            <a:r>
              <a:rPr lang="en-US" sz="1400" dirty="0"/>
              <a:t>[1] </a:t>
            </a:r>
            <a:r>
              <a:rPr lang="en-US" sz="1400" dirty="0" smtClean="0"/>
              <a:t>0.06966798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791" y="6437815"/>
            <a:ext cx="31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15082 out of 15083 taxa!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035160" y="6507261"/>
            <a:ext cx="307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15065  out of 15083 taxa!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6608885" y="134838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 smtClean="0"/>
              <a:t>fit$value</a:t>
            </a:r>
            <a:endParaRPr lang="en-US" sz="1400" dirty="0"/>
          </a:p>
          <a:p>
            <a:r>
              <a:rPr lang="en-US" sz="1400" dirty="0"/>
              <a:t>[1] </a:t>
            </a:r>
            <a:r>
              <a:rPr lang="en-US" sz="1400" dirty="0" smtClean="0"/>
              <a:t>0.06915412</a:t>
            </a:r>
            <a:endParaRPr lang="en-US" sz="1400" dirty="0"/>
          </a:p>
        </p:txBody>
      </p:sp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456" y="2737826"/>
            <a:ext cx="1168643" cy="739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AutoShape 19" descr="http://127.0.0.1:10401/graphics/cb4a72b4-5d8b-4ca5-8882-63e7741f3107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92" name="Picture 2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32" y="2733376"/>
            <a:ext cx="1047262" cy="66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3208266" y="67223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fit$value</a:t>
            </a:r>
            <a:endParaRPr lang="en-US" dirty="0"/>
          </a:p>
          <a:p>
            <a:r>
              <a:rPr lang="en-US" dirty="0"/>
              <a:t>[1] 0.06915217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0627" y="6236018"/>
            <a:ext cx="307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15065  out of 15083 taxa!</a:t>
            </a:r>
            <a:endParaRPr lang="en-US" dirty="0"/>
          </a:p>
        </p:txBody>
      </p:sp>
      <p:pic>
        <p:nvPicPr>
          <p:cNvPr id="3093" name="Picture 2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948" y="2405977"/>
            <a:ext cx="3028950" cy="19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4" name="Picture 2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279" y="4639341"/>
            <a:ext cx="2738721" cy="173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5" name="Picture 2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192" y="2567674"/>
            <a:ext cx="1706634" cy="107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661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070262"/>
            <a:ext cx="20574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fit</a:t>
            </a:r>
            <a:r>
              <a:rPr lang="en-US" sz="1100" dirty="0" err="1" smtClean="0"/>
              <a:t>$estimate</a:t>
            </a:r>
            <a:endParaRPr lang="en-US" sz="1100" dirty="0"/>
          </a:p>
          <a:p>
            <a:r>
              <a:rPr lang="en-US" sz="1100" dirty="0"/>
              <a:t>      mean         </a:t>
            </a:r>
            <a:r>
              <a:rPr lang="en-US" sz="1100" dirty="0" err="1"/>
              <a:t>sd</a:t>
            </a:r>
            <a:r>
              <a:rPr lang="en-US" sz="1100" dirty="0"/>
              <a:t> </a:t>
            </a:r>
          </a:p>
          <a:p>
            <a:r>
              <a:rPr lang="en-US" sz="1100" dirty="0"/>
              <a:t>-22.598993   5.088638 </a:t>
            </a:r>
          </a:p>
          <a:p>
            <a:r>
              <a:rPr lang="en-US" sz="1100" dirty="0" err="1" smtClean="0"/>
              <a:t>fit$value</a:t>
            </a:r>
            <a:endParaRPr lang="en-US" sz="1100" dirty="0"/>
          </a:p>
          <a:p>
            <a:r>
              <a:rPr lang="en-US" sz="1100" dirty="0"/>
              <a:t>[1] 5.918337e-10</a:t>
            </a:r>
          </a:p>
          <a:p>
            <a:r>
              <a:rPr lang="en-US" sz="1100" dirty="0" err="1" smtClean="0"/>
              <a:t>fit$hessian</a:t>
            </a:r>
            <a:endParaRPr lang="en-US" sz="1100" dirty="0"/>
          </a:p>
          <a:p>
            <a:r>
              <a:rPr lang="en-US" sz="1100" dirty="0"/>
              <a:t>         mean         </a:t>
            </a:r>
            <a:r>
              <a:rPr lang="en-US" sz="1100" dirty="0" err="1"/>
              <a:t>sd</a:t>
            </a:r>
            <a:endParaRPr lang="en-US" sz="1100" dirty="0"/>
          </a:p>
          <a:p>
            <a:r>
              <a:rPr lang="en-US" sz="1100" dirty="0"/>
              <a:t>mean  4.00000 -1.3489795</a:t>
            </a:r>
          </a:p>
          <a:p>
            <a:r>
              <a:rPr lang="en-US" sz="1100" dirty="0" err="1"/>
              <a:t>sd</a:t>
            </a:r>
            <a:r>
              <a:rPr lang="en-US" sz="1100" dirty="0"/>
              <a:t>   -1.34898  </a:t>
            </a:r>
            <a:r>
              <a:rPr lang="en-US" sz="1100" dirty="0" smtClean="0"/>
              <a:t>0.9098728</a:t>
            </a:r>
            <a:endParaRPr lang="en-US" sz="1100" dirty="0"/>
          </a:p>
        </p:txBody>
      </p:sp>
      <p:sp>
        <p:nvSpPr>
          <p:cNvPr id="7" name="Rectangle 6"/>
          <p:cNvSpPr/>
          <p:nvPr/>
        </p:nvSpPr>
        <p:spPr>
          <a:xfrm>
            <a:off x="381000" y="738220"/>
            <a:ext cx="1406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"NP</a:t>
            </a:r>
            <a:r>
              <a:rPr lang="en-US" dirty="0" smtClean="0"/>
              <a:t>"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81400" y="700930"/>
            <a:ext cx="1406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</a:t>
            </a:r>
            <a:r>
              <a:rPr lang="en-US" dirty="0" smtClean="0"/>
              <a:t>NC"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870031" y="725269"/>
            <a:ext cx="1576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Order = "</a:t>
            </a:r>
            <a:r>
              <a:rPr lang="en-US" dirty="0" err="1" smtClean="0"/>
              <a:t>NCw</a:t>
            </a:r>
            <a:r>
              <a:rPr lang="en-US" dirty="0" smtClean="0"/>
              <a:t>"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-15197" y="-1"/>
            <a:ext cx="180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PERFect_sim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1981200" y="91048"/>
            <a:ext cx="285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Alpha = </a:t>
            </a:r>
            <a:r>
              <a:rPr lang="en-US" dirty="0" smtClean="0"/>
              <a:t>0.1</a:t>
            </a:r>
            <a:r>
              <a:rPr lang="en-US" dirty="0"/>
              <a:t>, </a:t>
            </a:r>
            <a:r>
              <a:rPr lang="en-US" dirty="0" err="1" smtClean="0"/>
              <a:t>distr</a:t>
            </a:r>
            <a:r>
              <a:rPr lang="en-US" dirty="0" smtClean="0"/>
              <a:t> = “normal”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791" y="6437815"/>
            <a:ext cx="31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15082 out of 15083 taxa!</a:t>
            </a:r>
            <a:endParaRPr lang="en-US" dirty="0"/>
          </a:p>
        </p:txBody>
      </p:sp>
      <p:sp>
        <p:nvSpPr>
          <p:cNvPr id="19" name="AutoShape 19" descr="http://127.0.0.1:10401/graphics/cb4a72b4-5d8b-4ca5-8882-63e7741f3107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4" descr="http://127.0.0.1:10401/graphics/ae1de501-eabb-4420-82b1-57bd4dafed58.pn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31842"/>
            <a:ext cx="2479369" cy="156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19" y="4806950"/>
            <a:ext cx="2419350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152" y="2989993"/>
            <a:ext cx="2266950" cy="14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600157"/>
            <a:ext cx="2373404" cy="150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05699"/>
            <a:ext cx="2558302" cy="1618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134" y="4852923"/>
            <a:ext cx="2094268" cy="132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3356752" y="1117103"/>
            <a:ext cx="1872502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err="1" smtClean="0"/>
              <a:t>fit$estimate</a:t>
            </a:r>
            <a:endParaRPr lang="en-US" sz="1050" dirty="0" smtClean="0"/>
          </a:p>
          <a:p>
            <a:r>
              <a:rPr lang="en-US" sz="1050" dirty="0" smtClean="0"/>
              <a:t>      mean         </a:t>
            </a:r>
            <a:r>
              <a:rPr lang="en-US" sz="1050" dirty="0" err="1" smtClean="0"/>
              <a:t>sd</a:t>
            </a:r>
            <a:r>
              <a:rPr lang="en-US" sz="1050" dirty="0" smtClean="0"/>
              <a:t> </a:t>
            </a:r>
          </a:p>
          <a:p>
            <a:r>
              <a:rPr lang="en-US" sz="1050" dirty="0" smtClean="0"/>
              <a:t>-22.597593   5.089484 </a:t>
            </a:r>
          </a:p>
          <a:p>
            <a:endParaRPr lang="en-US" sz="1050" dirty="0" smtClean="0"/>
          </a:p>
          <a:p>
            <a:r>
              <a:rPr lang="en-US" sz="1050" dirty="0" err="1" smtClean="0"/>
              <a:t>fit$value</a:t>
            </a:r>
            <a:endParaRPr lang="en-US" sz="1050" dirty="0" smtClean="0"/>
          </a:p>
          <a:p>
            <a:r>
              <a:rPr lang="en-US" sz="1050" dirty="0" smtClean="0"/>
              <a:t>[1] 1.366171e-10</a:t>
            </a:r>
          </a:p>
          <a:p>
            <a:endParaRPr lang="en-US" sz="1050" dirty="0" smtClean="0"/>
          </a:p>
          <a:p>
            <a:r>
              <a:rPr lang="en-US" sz="1050" dirty="0" err="1" smtClean="0"/>
              <a:t>fit$hessian</a:t>
            </a:r>
            <a:endParaRPr lang="en-US" sz="1050" dirty="0" smtClean="0"/>
          </a:p>
          <a:p>
            <a:r>
              <a:rPr lang="en-US" sz="1050" dirty="0" smtClean="0"/>
              <a:t>         mean         </a:t>
            </a:r>
            <a:r>
              <a:rPr lang="en-US" sz="1050" dirty="0" err="1" smtClean="0"/>
              <a:t>sd</a:t>
            </a:r>
            <a:endParaRPr lang="en-US" sz="1050" dirty="0" smtClean="0"/>
          </a:p>
          <a:p>
            <a:r>
              <a:rPr lang="en-US" sz="1050" dirty="0" smtClean="0"/>
              <a:t>mean  4.00000 -1.3489795</a:t>
            </a:r>
          </a:p>
          <a:p>
            <a:r>
              <a:rPr lang="en-US" sz="1050" dirty="0" err="1" smtClean="0"/>
              <a:t>sd</a:t>
            </a:r>
            <a:r>
              <a:rPr lang="en-US" sz="1050" dirty="0" smtClean="0"/>
              <a:t>   -1.34898  0.9098728</a:t>
            </a:r>
            <a:endParaRPr lang="en-US" sz="1050" dirty="0"/>
          </a:p>
        </p:txBody>
      </p:sp>
      <p:sp>
        <p:nvSpPr>
          <p:cNvPr id="24" name="Rectangle 23"/>
          <p:cNvSpPr/>
          <p:nvPr/>
        </p:nvSpPr>
        <p:spPr>
          <a:xfrm>
            <a:off x="6521265" y="1109185"/>
            <a:ext cx="217113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 smtClean="0"/>
              <a:t>fit$estimate</a:t>
            </a:r>
            <a:endParaRPr lang="en-US" sz="1100" dirty="0"/>
          </a:p>
          <a:p>
            <a:r>
              <a:rPr lang="en-US" sz="1100" dirty="0"/>
              <a:t>      mean         </a:t>
            </a:r>
            <a:r>
              <a:rPr lang="en-US" sz="1100" dirty="0" err="1"/>
              <a:t>sd</a:t>
            </a:r>
            <a:r>
              <a:rPr lang="en-US" sz="1100" dirty="0"/>
              <a:t> </a:t>
            </a:r>
          </a:p>
          <a:p>
            <a:r>
              <a:rPr lang="en-US" sz="1100" dirty="0"/>
              <a:t>-22.597601   5.089407 </a:t>
            </a:r>
          </a:p>
          <a:p>
            <a:r>
              <a:rPr lang="en-US" sz="1100" dirty="0" err="1" smtClean="0"/>
              <a:t>fit$value</a:t>
            </a:r>
            <a:endParaRPr lang="en-US" sz="1100" dirty="0"/>
          </a:p>
          <a:p>
            <a:r>
              <a:rPr lang="en-US" sz="1100" dirty="0"/>
              <a:t>[1] 1.583094e-09</a:t>
            </a:r>
          </a:p>
          <a:p>
            <a:r>
              <a:rPr lang="en-US" sz="1100" dirty="0" err="1" smtClean="0"/>
              <a:t>fit$hessian</a:t>
            </a:r>
            <a:endParaRPr lang="en-US" sz="1100" dirty="0"/>
          </a:p>
          <a:p>
            <a:r>
              <a:rPr lang="en-US" sz="1100" dirty="0"/>
              <a:t>         mean         </a:t>
            </a:r>
            <a:r>
              <a:rPr lang="en-US" sz="1100" dirty="0" err="1"/>
              <a:t>sd</a:t>
            </a:r>
            <a:endParaRPr lang="en-US" sz="1100" dirty="0"/>
          </a:p>
          <a:p>
            <a:r>
              <a:rPr lang="en-US" sz="1100" dirty="0"/>
              <a:t>mean  4.00000 -1.3489795</a:t>
            </a:r>
          </a:p>
          <a:p>
            <a:r>
              <a:rPr lang="en-US" sz="1100" dirty="0" err="1"/>
              <a:t>sd</a:t>
            </a:r>
            <a:r>
              <a:rPr lang="en-US" sz="1100" dirty="0"/>
              <a:t>   -1.34898  0.9098728</a:t>
            </a:r>
          </a:p>
        </p:txBody>
      </p:sp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49" y="3217929"/>
            <a:ext cx="1254902" cy="793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286" y="3171561"/>
            <a:ext cx="846432" cy="53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2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683" y="3096671"/>
            <a:ext cx="819150" cy="51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2950627" y="6236018"/>
            <a:ext cx="307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15065  out of 15083 taxa!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0" y="6279899"/>
            <a:ext cx="307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Kept 15065  out of 15083 taxa!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5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654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412483FFC35649B797435CD3F0398D" ma:contentTypeVersion="13" ma:contentTypeDescription="Create a new document." ma:contentTypeScope="" ma:versionID="bc1693a0f8f8a56dd0f8736d468a9701">
  <xsd:schema xmlns:xsd="http://www.w3.org/2001/XMLSchema" xmlns:xs="http://www.w3.org/2001/XMLSchema" xmlns:p="http://schemas.microsoft.com/office/2006/metadata/properties" xmlns:ns2="c547a812-ac17-4a6a-8bd9-a75acfa31021" xmlns:ns3="814e9f69-708b-42d1-b772-2ece2c1b39da" targetNamespace="http://schemas.microsoft.com/office/2006/metadata/properties" ma:root="true" ma:fieldsID="dee7b86f1ea803d04819fbf1cdce97f7" ns2:_="" ns3:_="">
    <xsd:import namespace="c547a812-ac17-4a6a-8bd9-a75acfa31021"/>
    <xsd:import namespace="814e9f69-708b-42d1-b772-2ece2c1b39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7a812-ac17-4a6a-8bd9-a75acfa31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e9f69-708b-42d1-b772-2ece2c1b39d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5BB0AB-2921-4129-8AB3-68DE79D8EE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47a812-ac17-4a6a-8bd9-a75acfa31021"/>
    <ds:schemaRef ds:uri="814e9f69-708b-42d1-b772-2ece2c1b39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EEECEA-261B-4949-A800-A690CC3326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210CD4-C597-424D-ABB8-877DEF4B8F76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547a812-ac17-4a6a-8bd9-a75acfa31021"/>
    <ds:schemaRef ds:uri="http://purl.org/dc/terms/"/>
    <ds:schemaRef ds:uri="http://schemas.openxmlformats.org/package/2006/metadata/core-properties"/>
    <ds:schemaRef ds:uri="814e9f69-708b-42d1-b772-2ece2c1b39d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429</Words>
  <Application>Microsoft Office PowerPoint</Application>
  <PresentationFormat>On-screen Show (4:3)</PresentationFormat>
  <Paragraphs>147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pedro</cp:lastModifiedBy>
  <cp:revision>23</cp:revision>
  <dcterms:created xsi:type="dcterms:W3CDTF">2006-08-16T00:00:00Z</dcterms:created>
  <dcterms:modified xsi:type="dcterms:W3CDTF">2022-02-22T19:02:55Z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0x0101000E412483FFC35649B797435CD3F0398D</vt:lpwstr>
  </property>
</Properties>
</file>