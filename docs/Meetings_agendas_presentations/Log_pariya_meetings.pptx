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0" r:id="rId6"/>
    <p:sldId id="258" r:id="rId7"/>
    <p:sldId id="259" r:id="rId8"/>
    <p:sldId id="275" r:id="rId9"/>
    <p:sldId id="276" r:id="rId10"/>
    <p:sldId id="277" r:id="rId11"/>
    <p:sldId id="278" r:id="rId12"/>
    <p:sldId id="279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204" y="-32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-19050"/>
            <a:ext cx="7772400" cy="2014538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Meeting Log</a:t>
            </a:r>
            <a:br>
              <a:rPr lang="en-US" sz="3200" b="1" dirty="0" smtClean="0"/>
            </a:br>
            <a:r>
              <a:rPr lang="en-US" sz="3200" b="1" dirty="0" smtClean="0"/>
              <a:t>MICROP’s </a:t>
            </a:r>
            <a:r>
              <a:rPr lang="en-US" sz="3200" b="1" dirty="0" err="1" smtClean="0"/>
              <a:t>Brassiaceae</a:t>
            </a:r>
            <a:r>
              <a:rPr lang="en-US" sz="3200" b="1" dirty="0" smtClean="0"/>
              <a:t> Family </a:t>
            </a:r>
            <a:r>
              <a:rPr lang="en-US" sz="3200" b="1" dirty="0" smtClean="0"/>
              <a:t>experiment</a:t>
            </a:r>
            <a:br>
              <a:rPr lang="en-US" sz="3200" b="1" dirty="0" smtClean="0"/>
            </a:br>
            <a:r>
              <a:rPr lang="en-US" sz="3200" b="1" dirty="0" smtClean="0"/>
              <a:t>&amp; </a:t>
            </a:r>
            <a:r>
              <a:rPr lang="en-US" sz="3200" b="1" dirty="0" err="1" smtClean="0"/>
              <a:t>Pariya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Behrouzi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790700"/>
            <a:ext cx="6400800" cy="1314450"/>
          </a:xfrm>
        </p:spPr>
        <p:txBody>
          <a:bodyPr>
            <a:normAutofit fontScale="40000" lnSpcReduction="20000"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Pedro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Beschoren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da Costa, PhD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Marcela Aragon Gomes,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Msc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Zulema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Carracedo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Lorenzo,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Msc</a:t>
            </a:r>
            <a:endParaRPr lang="en-US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Melissa Uribe,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Msc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Karen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Kloth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PhD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Prof. Marcel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Dicke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26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3638550"/>
            <a:ext cx="49530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ageningen University and Research (WUR) Vector Logo | Free Download -  (.SVG + .PNG) format - SeekVectorLogo.C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2" y="3105151"/>
            <a:ext cx="4185283" cy="2325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1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Diagonal Corner Rectangle 3"/>
          <p:cNvSpPr/>
          <p:nvPr/>
        </p:nvSpPr>
        <p:spPr>
          <a:xfrm>
            <a:off x="0" y="-46732"/>
            <a:ext cx="9169400" cy="1704082"/>
          </a:xfrm>
          <a:prstGeom prst="snip2DiagRect">
            <a:avLst>
              <a:gd name="adj1" fmla="val 50000"/>
              <a:gd name="adj2" fmla="val 33198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5" name="Snip Diagonal Corner Rectangle 4"/>
          <p:cNvSpPr/>
          <p:nvPr/>
        </p:nvSpPr>
        <p:spPr>
          <a:xfrm flipH="1">
            <a:off x="0" y="3439418"/>
            <a:ext cx="9169400" cy="1704082"/>
          </a:xfrm>
          <a:prstGeom prst="snip2DiagRect">
            <a:avLst>
              <a:gd name="adj1" fmla="val 50000"/>
              <a:gd name="adj2" fmla="val 33198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1321269" y="1809750"/>
            <a:ext cx="57679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 smtClean="0"/>
              <a:t>Meeting 1 – 20/May/2022</a:t>
            </a:r>
          </a:p>
          <a:p>
            <a:pPr algn="ctr"/>
            <a:r>
              <a:rPr lang="en-US" sz="2400" b="1" dirty="0" smtClean="0"/>
              <a:t>Pedro </a:t>
            </a:r>
            <a:r>
              <a:rPr lang="en-US" sz="2400" b="1" dirty="0" err="1" smtClean="0"/>
              <a:t>Beschoren</a:t>
            </a:r>
            <a:endParaRPr lang="en-US" sz="2400" b="1" dirty="0" smtClean="0"/>
          </a:p>
          <a:p>
            <a:pPr algn="ctr"/>
            <a:r>
              <a:rPr lang="en-US" sz="2400" b="1" dirty="0" err="1" smtClean="0"/>
              <a:t>Pariya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Behrouzi</a:t>
            </a:r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58610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68"/>
          <p:cNvSpPr/>
          <p:nvPr/>
        </p:nvSpPr>
        <p:spPr>
          <a:xfrm>
            <a:off x="-186266" y="6743700"/>
            <a:ext cx="9906000" cy="1143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3" name="Straight Connector 172">
            <a:extLst>
              <a:ext uri="{FF2B5EF4-FFF2-40B4-BE49-F238E27FC236}">
                <a16:creationId xmlns="" xmlns:a16="http://schemas.microsoft.com/office/drawing/2014/main" id="{5A242071-E0C7-48F2-9217-9F1FCD5283B5}"/>
              </a:ext>
            </a:extLst>
          </p:cNvPr>
          <p:cNvCxnSpPr>
            <a:cxnSpLocks/>
          </p:cNvCxnSpPr>
          <p:nvPr/>
        </p:nvCxnSpPr>
        <p:spPr>
          <a:xfrm>
            <a:off x="1690979" y="3574671"/>
            <a:ext cx="0" cy="53567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="" xmlns:a16="http://schemas.microsoft.com/office/drawing/2014/main" id="{A415C58D-780B-428D-A713-FD2DB62D4220}"/>
              </a:ext>
            </a:extLst>
          </p:cNvPr>
          <p:cNvSpPr txBox="1"/>
          <p:nvPr/>
        </p:nvSpPr>
        <p:spPr>
          <a:xfrm>
            <a:off x="484770" y="3848324"/>
            <a:ext cx="5565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>
                    <a:lumMod val="50000"/>
                  </a:schemeClr>
                </a:solidFill>
              </a:rPr>
              <a:t>7 days</a:t>
            </a:r>
            <a:endParaRPr lang="nl-NL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="" xmlns:a16="http://schemas.microsoft.com/office/drawing/2014/main" id="{76182B0B-EB39-4DF4-B83E-30855CFB5AD4}"/>
              </a:ext>
            </a:extLst>
          </p:cNvPr>
          <p:cNvSpPr txBox="1"/>
          <p:nvPr/>
        </p:nvSpPr>
        <p:spPr>
          <a:xfrm>
            <a:off x="2817459" y="3866062"/>
            <a:ext cx="8162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14-21 days</a:t>
            </a:r>
            <a:endParaRPr lang="nl-NL" sz="1100" b="1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76" name="Straight Connector 175">
            <a:extLst>
              <a:ext uri="{FF2B5EF4-FFF2-40B4-BE49-F238E27FC236}">
                <a16:creationId xmlns="" xmlns:a16="http://schemas.microsoft.com/office/drawing/2014/main" id="{35499E40-265F-47FA-984B-1CDD11E865E0}"/>
              </a:ext>
            </a:extLst>
          </p:cNvPr>
          <p:cNvCxnSpPr>
            <a:cxnSpLocks/>
          </p:cNvCxnSpPr>
          <p:nvPr/>
        </p:nvCxnSpPr>
        <p:spPr>
          <a:xfrm>
            <a:off x="4543817" y="3545647"/>
            <a:ext cx="0" cy="53567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7" name="Table 9">
            <a:extLst>
              <a:ext uri="{FF2B5EF4-FFF2-40B4-BE49-F238E27FC236}">
                <a16:creationId xmlns="" xmlns:a16="http://schemas.microsoft.com/office/drawing/2014/main" id="{42DD5D9B-E23C-4858-B870-9957E168E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726667"/>
              </p:ext>
            </p:extLst>
          </p:nvPr>
        </p:nvGraphicFramePr>
        <p:xfrm>
          <a:off x="666062" y="1767569"/>
          <a:ext cx="644940" cy="67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470">
                  <a:extLst>
                    <a:ext uri="{9D8B030D-6E8A-4147-A177-3AD203B41FA5}">
                      <a16:colId xmlns="" xmlns:a16="http://schemas.microsoft.com/office/drawing/2014/main" val="65344100"/>
                    </a:ext>
                  </a:extLst>
                </a:gridCol>
                <a:gridCol w="322470">
                  <a:extLst>
                    <a:ext uri="{9D8B030D-6E8A-4147-A177-3AD203B41FA5}">
                      <a16:colId xmlns="" xmlns:a16="http://schemas.microsoft.com/office/drawing/2014/main" val="3614394896"/>
                    </a:ext>
                  </a:extLst>
                </a:gridCol>
              </a:tblGrid>
              <a:tr h="164677">
                <a:tc>
                  <a:txBody>
                    <a:bodyPr/>
                    <a:lstStyle/>
                    <a:p>
                      <a:endParaRPr lang="nl-NL" sz="500" dirty="0"/>
                    </a:p>
                  </a:txBody>
                  <a:tcPr>
                    <a:solidFill>
                      <a:srgbClr val="AF9584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sz="500"/>
                    </a:p>
                  </a:txBody>
                  <a:tcPr>
                    <a:solidFill>
                      <a:srgbClr val="AF958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2575050"/>
                  </a:ext>
                </a:extLst>
              </a:tr>
              <a:tr h="164677">
                <a:tc>
                  <a:txBody>
                    <a:bodyPr/>
                    <a:lstStyle/>
                    <a:p>
                      <a:endParaRPr lang="nl-NL" sz="500"/>
                    </a:p>
                  </a:txBody>
                  <a:tcPr>
                    <a:solidFill>
                      <a:srgbClr val="AF9584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sz="500" dirty="0"/>
                    </a:p>
                  </a:txBody>
                  <a:tcPr>
                    <a:solidFill>
                      <a:srgbClr val="AF958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92385012"/>
                  </a:ext>
                </a:extLst>
              </a:tr>
              <a:tr h="164677">
                <a:tc>
                  <a:txBody>
                    <a:bodyPr/>
                    <a:lstStyle/>
                    <a:p>
                      <a:endParaRPr lang="nl-NL" sz="500"/>
                    </a:p>
                  </a:txBody>
                  <a:tcPr>
                    <a:solidFill>
                      <a:srgbClr val="AF9584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sz="500"/>
                    </a:p>
                  </a:txBody>
                  <a:tcPr>
                    <a:solidFill>
                      <a:srgbClr val="AF958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80310289"/>
                  </a:ext>
                </a:extLst>
              </a:tr>
              <a:tr h="164677">
                <a:tc>
                  <a:txBody>
                    <a:bodyPr/>
                    <a:lstStyle/>
                    <a:p>
                      <a:endParaRPr lang="nl-NL" sz="500"/>
                    </a:p>
                  </a:txBody>
                  <a:tcPr>
                    <a:solidFill>
                      <a:srgbClr val="AF9584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sz="500"/>
                    </a:p>
                  </a:txBody>
                  <a:tcPr>
                    <a:solidFill>
                      <a:srgbClr val="AF958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68420185"/>
                  </a:ext>
                </a:extLst>
              </a:tr>
            </a:tbl>
          </a:graphicData>
        </a:graphic>
      </p:graphicFrame>
      <p:sp>
        <p:nvSpPr>
          <p:cNvPr id="178" name="TextBox 177">
            <a:extLst>
              <a:ext uri="{FF2B5EF4-FFF2-40B4-BE49-F238E27FC236}">
                <a16:creationId xmlns="" xmlns:a16="http://schemas.microsoft.com/office/drawing/2014/main" id="{A9757F59-403D-4795-8A43-8E341E261C94}"/>
              </a:ext>
            </a:extLst>
          </p:cNvPr>
          <p:cNvSpPr txBox="1"/>
          <p:nvPr/>
        </p:nvSpPr>
        <p:spPr>
          <a:xfrm>
            <a:off x="321914" y="1134571"/>
            <a:ext cx="146386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/>
              <a:t>Sowing + germination</a:t>
            </a:r>
            <a:br>
              <a:rPr lang="en-US" sz="1100" b="1" dirty="0"/>
            </a:br>
            <a:r>
              <a:rPr lang="en-US" sz="1100" b="1" dirty="0"/>
              <a:t>in </a:t>
            </a:r>
            <a:r>
              <a:rPr lang="en-US" sz="1100" b="1" dirty="0" err="1"/>
              <a:t>microp</a:t>
            </a:r>
            <a:r>
              <a:rPr lang="en-US" sz="1100" b="1" dirty="0"/>
              <a:t> soil </a:t>
            </a:r>
            <a:br>
              <a:rPr lang="en-US" sz="1100" b="1" dirty="0"/>
            </a:br>
            <a:endParaRPr lang="nl-NL" sz="1100" b="1" dirty="0"/>
          </a:p>
        </p:txBody>
      </p:sp>
      <p:sp>
        <p:nvSpPr>
          <p:cNvPr id="179" name="TextBox 178">
            <a:extLst>
              <a:ext uri="{FF2B5EF4-FFF2-40B4-BE49-F238E27FC236}">
                <a16:creationId xmlns="" xmlns:a16="http://schemas.microsoft.com/office/drawing/2014/main" id="{4C7CE201-21F8-4695-95C1-8F141305D3CA}"/>
              </a:ext>
            </a:extLst>
          </p:cNvPr>
          <p:cNvSpPr txBox="1"/>
          <p:nvPr/>
        </p:nvSpPr>
        <p:spPr>
          <a:xfrm>
            <a:off x="1921770" y="732770"/>
            <a:ext cx="25636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Transplant to 1L pots with </a:t>
            </a:r>
            <a:r>
              <a:rPr lang="en-US" sz="1100" b="1" dirty="0" err="1"/>
              <a:t>microp</a:t>
            </a:r>
            <a:r>
              <a:rPr lang="en-US" sz="1100" b="1" dirty="0"/>
              <a:t> soil</a:t>
            </a:r>
            <a:endParaRPr lang="nl-NL" sz="1100" b="1" dirty="0"/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="" xmlns:a16="http://schemas.microsoft.com/office/drawing/2014/main" id="{59D6E3DA-8952-43E1-AB0B-64685DF6377F}"/>
              </a:ext>
            </a:extLst>
          </p:cNvPr>
          <p:cNvCxnSpPr/>
          <p:nvPr/>
        </p:nvCxnSpPr>
        <p:spPr>
          <a:xfrm>
            <a:off x="1617922" y="2164160"/>
            <a:ext cx="3319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="" xmlns:a16="http://schemas.microsoft.com/office/drawing/2014/main" id="{24EA094C-46C4-45DC-AD5A-3DF575AFDCC0}"/>
              </a:ext>
            </a:extLst>
          </p:cNvPr>
          <p:cNvCxnSpPr/>
          <p:nvPr/>
        </p:nvCxnSpPr>
        <p:spPr>
          <a:xfrm>
            <a:off x="7232256" y="2350734"/>
            <a:ext cx="3319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="" xmlns:a16="http://schemas.microsoft.com/office/drawing/2014/main" id="{669B00C9-DFA0-4094-8539-3E11E453CCB8}"/>
              </a:ext>
            </a:extLst>
          </p:cNvPr>
          <p:cNvSpPr txBox="1"/>
          <p:nvPr/>
        </p:nvSpPr>
        <p:spPr>
          <a:xfrm>
            <a:off x="7439538" y="998623"/>
            <a:ext cx="1697763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 b="1"/>
              <a:t>Harvest </a:t>
            </a:r>
            <a:endParaRPr lang="nl-NL" sz="1100" b="1"/>
          </a:p>
        </p:txBody>
      </p:sp>
      <p:pic>
        <p:nvPicPr>
          <p:cNvPr id="183" name="Picture 182" descr="A picture containing knife, plant&#10;&#10;Description automatically generated">
            <a:extLst>
              <a:ext uri="{FF2B5EF4-FFF2-40B4-BE49-F238E27FC236}">
                <a16:creationId xmlns="" xmlns:a16="http://schemas.microsoft.com/office/drawing/2014/main" id="{322045F9-B978-4AB4-A045-D3E6B2E8B9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31377">
            <a:off x="8190762" y="1550259"/>
            <a:ext cx="360000" cy="594600"/>
          </a:xfrm>
          <a:prstGeom prst="rect">
            <a:avLst/>
          </a:prstGeom>
        </p:spPr>
      </p:pic>
      <p:grpSp>
        <p:nvGrpSpPr>
          <p:cNvPr id="184" name="Group 183">
            <a:extLst>
              <a:ext uri="{FF2B5EF4-FFF2-40B4-BE49-F238E27FC236}">
                <a16:creationId xmlns="" xmlns:a16="http://schemas.microsoft.com/office/drawing/2014/main" id="{C9EEC8B9-D94D-4ED7-A31D-1B65F60F5B96}"/>
              </a:ext>
            </a:extLst>
          </p:cNvPr>
          <p:cNvGrpSpPr/>
          <p:nvPr/>
        </p:nvGrpSpPr>
        <p:grpSpPr>
          <a:xfrm>
            <a:off x="7891232" y="1660159"/>
            <a:ext cx="383992" cy="635483"/>
            <a:chOff x="7380063" y="2139797"/>
            <a:chExt cx="383992" cy="635483"/>
          </a:xfrm>
        </p:grpSpPr>
        <p:sp>
          <p:nvSpPr>
            <p:cNvPr id="185" name="Trapezoid 184">
              <a:extLst>
                <a:ext uri="{FF2B5EF4-FFF2-40B4-BE49-F238E27FC236}">
                  <a16:creationId xmlns="" xmlns:a16="http://schemas.microsoft.com/office/drawing/2014/main" id="{A0B23E99-6B05-4A06-9734-E3D7BAB31637}"/>
                </a:ext>
              </a:extLst>
            </p:cNvPr>
            <p:cNvSpPr/>
            <p:nvPr/>
          </p:nvSpPr>
          <p:spPr>
            <a:xfrm rot="10800000">
              <a:off x="7380063" y="2408897"/>
              <a:ext cx="383992" cy="366383"/>
            </a:xfrm>
            <a:prstGeom prst="trapezoid">
              <a:avLst/>
            </a:prstGeom>
            <a:solidFill>
              <a:srgbClr val="5F2C09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186" name="Group 185">
              <a:extLst>
                <a:ext uri="{FF2B5EF4-FFF2-40B4-BE49-F238E27FC236}">
                  <a16:creationId xmlns="" xmlns:a16="http://schemas.microsoft.com/office/drawing/2014/main" id="{1AB251BE-7F8F-4B6C-86B3-70B030E2F187}"/>
                </a:ext>
              </a:extLst>
            </p:cNvPr>
            <p:cNvGrpSpPr/>
            <p:nvPr/>
          </p:nvGrpSpPr>
          <p:grpSpPr>
            <a:xfrm>
              <a:off x="7414528" y="2139797"/>
              <a:ext cx="302243" cy="384026"/>
              <a:chOff x="3081337" y="504825"/>
              <a:chExt cx="404813" cy="514350"/>
            </a:xfrm>
          </p:grpSpPr>
          <p:cxnSp>
            <p:nvCxnSpPr>
              <p:cNvPr id="187" name="Straight Arrow Connector 186">
                <a:extLst>
                  <a:ext uri="{FF2B5EF4-FFF2-40B4-BE49-F238E27FC236}">
                    <a16:creationId xmlns="" xmlns:a16="http://schemas.microsoft.com/office/drawing/2014/main" id="{CDAB2E11-9DAB-47F7-8C72-BE62349309CB}"/>
                  </a:ext>
                </a:extLst>
              </p:cNvPr>
              <p:cNvCxnSpPr/>
              <p:nvPr/>
            </p:nvCxnSpPr>
            <p:spPr>
              <a:xfrm>
                <a:off x="3305175" y="685800"/>
                <a:ext cx="0" cy="333375"/>
              </a:xfrm>
              <a:prstGeom prst="straightConnector1">
                <a:avLst/>
              </a:prstGeom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88" name="Teardrop 187">
                <a:extLst>
                  <a:ext uri="{FF2B5EF4-FFF2-40B4-BE49-F238E27FC236}">
                    <a16:creationId xmlns="" xmlns:a16="http://schemas.microsoft.com/office/drawing/2014/main" id="{DF856009-38F3-4641-98FB-9F4043691EEA}"/>
                  </a:ext>
                </a:extLst>
              </p:cNvPr>
              <p:cNvSpPr/>
              <p:nvPr/>
            </p:nvSpPr>
            <p:spPr>
              <a:xfrm>
                <a:off x="3295650" y="504825"/>
                <a:ext cx="190500" cy="238125"/>
              </a:xfrm>
              <a:prstGeom prst="teardrop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9" name="Teardrop 188">
                <a:extLst>
                  <a:ext uri="{FF2B5EF4-FFF2-40B4-BE49-F238E27FC236}">
                    <a16:creationId xmlns="" xmlns:a16="http://schemas.microsoft.com/office/drawing/2014/main" id="{F6DEAFEA-13F6-41A5-ADFA-F06F3F0CB5F9}"/>
                  </a:ext>
                </a:extLst>
              </p:cNvPr>
              <p:cNvSpPr/>
              <p:nvPr/>
            </p:nvSpPr>
            <p:spPr>
              <a:xfrm rot="17580000">
                <a:off x="3105150" y="523874"/>
                <a:ext cx="190500" cy="238125"/>
              </a:xfrm>
              <a:prstGeom prst="teardrop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cxnSp>
        <p:nvCxnSpPr>
          <p:cNvPr id="190" name="Straight Connector 189">
            <a:extLst>
              <a:ext uri="{FF2B5EF4-FFF2-40B4-BE49-F238E27FC236}">
                <a16:creationId xmlns="" xmlns:a16="http://schemas.microsoft.com/office/drawing/2014/main" id="{7868303C-A999-40AC-890B-42672B07B86C}"/>
              </a:ext>
            </a:extLst>
          </p:cNvPr>
          <p:cNvCxnSpPr>
            <a:cxnSpLocks/>
          </p:cNvCxnSpPr>
          <p:nvPr/>
        </p:nvCxnSpPr>
        <p:spPr>
          <a:xfrm>
            <a:off x="7656799" y="3574671"/>
            <a:ext cx="0" cy="53567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1" name="Group 190">
            <a:extLst>
              <a:ext uri="{FF2B5EF4-FFF2-40B4-BE49-F238E27FC236}">
                <a16:creationId xmlns="" xmlns:a16="http://schemas.microsoft.com/office/drawing/2014/main" id="{DE7F2DE5-4947-4871-BBB5-1198EB9D11EB}"/>
              </a:ext>
            </a:extLst>
          </p:cNvPr>
          <p:cNvGrpSpPr/>
          <p:nvPr/>
        </p:nvGrpSpPr>
        <p:grpSpPr>
          <a:xfrm>
            <a:off x="2128047" y="1437627"/>
            <a:ext cx="4312083" cy="976229"/>
            <a:chOff x="4061252" y="2339291"/>
            <a:chExt cx="4312083" cy="976229"/>
          </a:xfrm>
        </p:grpSpPr>
        <p:grpSp>
          <p:nvGrpSpPr>
            <p:cNvPr id="192" name="Group 191">
              <a:extLst>
                <a:ext uri="{FF2B5EF4-FFF2-40B4-BE49-F238E27FC236}">
                  <a16:creationId xmlns="" xmlns:a16="http://schemas.microsoft.com/office/drawing/2014/main" id="{0FFF4618-AA92-4B7F-B636-2EB0293ACFA1}"/>
                </a:ext>
              </a:extLst>
            </p:cNvPr>
            <p:cNvGrpSpPr/>
            <p:nvPr/>
          </p:nvGrpSpPr>
          <p:grpSpPr>
            <a:xfrm>
              <a:off x="4102126" y="2339291"/>
              <a:ext cx="302243" cy="384026"/>
              <a:chOff x="3081337" y="504825"/>
              <a:chExt cx="404813" cy="514350"/>
            </a:xfrm>
          </p:grpSpPr>
          <p:cxnSp>
            <p:nvCxnSpPr>
              <p:cNvPr id="239" name="Straight Arrow Connector 238">
                <a:extLst>
                  <a:ext uri="{FF2B5EF4-FFF2-40B4-BE49-F238E27FC236}">
                    <a16:creationId xmlns="" xmlns:a16="http://schemas.microsoft.com/office/drawing/2014/main" id="{8FC8E0BE-2DB5-4AE7-B57C-72E69FB16593}"/>
                  </a:ext>
                </a:extLst>
              </p:cNvPr>
              <p:cNvCxnSpPr/>
              <p:nvPr/>
            </p:nvCxnSpPr>
            <p:spPr>
              <a:xfrm>
                <a:off x="3305175" y="685800"/>
                <a:ext cx="0" cy="333375"/>
              </a:xfrm>
              <a:prstGeom prst="straightConnector1">
                <a:avLst/>
              </a:prstGeom>
              <a:ln w="28575"/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40" name="Teardrop 239">
                <a:extLst>
                  <a:ext uri="{FF2B5EF4-FFF2-40B4-BE49-F238E27FC236}">
                    <a16:creationId xmlns="" xmlns:a16="http://schemas.microsoft.com/office/drawing/2014/main" id="{9CBDBA27-BFCD-4E1E-A000-3743FC0D7503}"/>
                  </a:ext>
                </a:extLst>
              </p:cNvPr>
              <p:cNvSpPr/>
              <p:nvPr/>
            </p:nvSpPr>
            <p:spPr>
              <a:xfrm>
                <a:off x="3295650" y="504825"/>
                <a:ext cx="190500" cy="238125"/>
              </a:xfrm>
              <a:prstGeom prst="teardrop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41" name="Teardrop 240">
                <a:extLst>
                  <a:ext uri="{FF2B5EF4-FFF2-40B4-BE49-F238E27FC236}">
                    <a16:creationId xmlns="" xmlns:a16="http://schemas.microsoft.com/office/drawing/2014/main" id="{45EBDB26-0936-4EF3-93EC-6A90855D4EDD}"/>
                  </a:ext>
                </a:extLst>
              </p:cNvPr>
              <p:cNvSpPr/>
              <p:nvPr/>
            </p:nvSpPr>
            <p:spPr>
              <a:xfrm rot="17580000">
                <a:off x="3105150" y="523874"/>
                <a:ext cx="190500" cy="238125"/>
              </a:xfrm>
              <a:prstGeom prst="teardrop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="" xmlns:a16="http://schemas.microsoft.com/office/drawing/2014/main" id="{C67536BB-5257-4A7D-9CBE-EC7C6985F58C}"/>
                </a:ext>
              </a:extLst>
            </p:cNvPr>
            <p:cNvGrpSpPr/>
            <p:nvPr/>
          </p:nvGrpSpPr>
          <p:grpSpPr>
            <a:xfrm>
              <a:off x="4061252" y="2340394"/>
              <a:ext cx="1076118" cy="938334"/>
              <a:chOff x="3697649" y="2607166"/>
              <a:chExt cx="1076118" cy="938334"/>
            </a:xfrm>
          </p:grpSpPr>
          <p:grpSp>
            <p:nvGrpSpPr>
              <p:cNvPr id="227" name="Group 226">
                <a:extLst>
                  <a:ext uri="{FF2B5EF4-FFF2-40B4-BE49-F238E27FC236}">
                    <a16:creationId xmlns="" xmlns:a16="http://schemas.microsoft.com/office/drawing/2014/main" id="{49BF2C7F-F2BC-4F83-BB48-AA05B441E804}"/>
                  </a:ext>
                </a:extLst>
              </p:cNvPr>
              <p:cNvGrpSpPr/>
              <p:nvPr/>
            </p:nvGrpSpPr>
            <p:grpSpPr>
              <a:xfrm>
                <a:off x="3697649" y="2876266"/>
                <a:ext cx="1076118" cy="669234"/>
                <a:chOff x="3986899" y="2740293"/>
                <a:chExt cx="1076118" cy="669234"/>
              </a:xfrm>
            </p:grpSpPr>
            <p:sp>
              <p:nvSpPr>
                <p:cNvPr id="232" name="Trapezoid 231">
                  <a:extLst>
                    <a:ext uri="{FF2B5EF4-FFF2-40B4-BE49-F238E27FC236}">
                      <a16:creationId xmlns="" xmlns:a16="http://schemas.microsoft.com/office/drawing/2014/main" id="{DEDB4054-0510-4BA0-8820-D7814DE458E1}"/>
                    </a:ext>
                  </a:extLst>
                </p:cNvPr>
                <p:cNvSpPr/>
                <p:nvPr/>
              </p:nvSpPr>
              <p:spPr>
                <a:xfrm rot="10800000">
                  <a:off x="3986899" y="2740293"/>
                  <a:ext cx="383992" cy="366383"/>
                </a:xfrm>
                <a:prstGeom prst="trapezoid">
                  <a:avLst/>
                </a:prstGeom>
                <a:solidFill>
                  <a:srgbClr val="5F2C09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233" name="Trapezoid 232">
                  <a:extLst>
                    <a:ext uri="{FF2B5EF4-FFF2-40B4-BE49-F238E27FC236}">
                      <a16:creationId xmlns="" xmlns:a16="http://schemas.microsoft.com/office/drawing/2014/main" id="{05A8B83B-30BD-4607-A258-788D403C8732}"/>
                    </a:ext>
                  </a:extLst>
                </p:cNvPr>
                <p:cNvSpPr/>
                <p:nvPr/>
              </p:nvSpPr>
              <p:spPr>
                <a:xfrm rot="10800000">
                  <a:off x="4679025" y="2740293"/>
                  <a:ext cx="383992" cy="366383"/>
                </a:xfrm>
                <a:prstGeom prst="trapezoid">
                  <a:avLst/>
                </a:prstGeom>
                <a:solidFill>
                  <a:srgbClr val="5F2C09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234" name="Oval 233">
                  <a:extLst>
                    <a:ext uri="{FF2B5EF4-FFF2-40B4-BE49-F238E27FC236}">
                      <a16:creationId xmlns="" xmlns:a16="http://schemas.microsoft.com/office/drawing/2014/main" id="{82C1AB32-3F1C-4E5B-8688-3FA1496FA01B}"/>
                    </a:ext>
                  </a:extLst>
                </p:cNvPr>
                <p:cNvSpPr/>
                <p:nvPr/>
              </p:nvSpPr>
              <p:spPr>
                <a:xfrm>
                  <a:off x="4110814" y="2825337"/>
                  <a:ext cx="156333" cy="16185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1400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235" name="Oval 234">
                  <a:extLst>
                    <a:ext uri="{FF2B5EF4-FFF2-40B4-BE49-F238E27FC236}">
                      <a16:creationId xmlns="" xmlns:a16="http://schemas.microsoft.com/office/drawing/2014/main" id="{F8AE8CAE-535C-4900-A77D-531425F31912}"/>
                    </a:ext>
                  </a:extLst>
                </p:cNvPr>
                <p:cNvSpPr/>
                <p:nvPr/>
              </p:nvSpPr>
              <p:spPr>
                <a:xfrm>
                  <a:off x="4790184" y="2816229"/>
                  <a:ext cx="156333" cy="161859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1400">
                    <a:solidFill>
                      <a:schemeClr val="accent4"/>
                    </a:solidFill>
                  </a:endParaRPr>
                </a:p>
              </p:txBody>
            </p:sp>
            <p:grpSp>
              <p:nvGrpSpPr>
                <p:cNvPr id="236" name="Group 235">
                  <a:extLst>
                    <a:ext uri="{FF2B5EF4-FFF2-40B4-BE49-F238E27FC236}">
                      <a16:creationId xmlns="" xmlns:a16="http://schemas.microsoft.com/office/drawing/2014/main" id="{B3F0A985-CDD0-434A-A559-31F2AD84CC2B}"/>
                    </a:ext>
                  </a:extLst>
                </p:cNvPr>
                <p:cNvGrpSpPr/>
                <p:nvPr/>
              </p:nvGrpSpPr>
              <p:grpSpPr>
                <a:xfrm>
                  <a:off x="3997998" y="3134931"/>
                  <a:ext cx="1042031" cy="274596"/>
                  <a:chOff x="1325759" y="3078850"/>
                  <a:chExt cx="1042031" cy="274596"/>
                </a:xfrm>
              </p:grpSpPr>
              <p:sp>
                <p:nvSpPr>
                  <p:cNvPr id="237" name="TextBox 236">
                    <a:extLst>
                      <a:ext uri="{FF2B5EF4-FFF2-40B4-BE49-F238E27FC236}">
                        <a16:creationId xmlns="" xmlns:a16="http://schemas.microsoft.com/office/drawing/2014/main" id="{A6884CBA-5871-409A-837E-BE0AFF5138BC}"/>
                      </a:ext>
                    </a:extLst>
                  </p:cNvPr>
                  <p:cNvSpPr txBox="1"/>
                  <p:nvPr/>
                </p:nvSpPr>
                <p:spPr>
                  <a:xfrm>
                    <a:off x="2024426" y="3078850"/>
                    <a:ext cx="343364" cy="261610"/>
                  </a:xfrm>
                  <a:prstGeom prst="rect">
                    <a:avLst/>
                  </a:prstGeom>
                  <a:noFill/>
                </p:spPr>
                <p:txBody>
                  <a:bodyPr wrap="none" lIns="91440" tIns="45720" rIns="91440" bIns="45720" rtlCol="0" anchor="t">
                    <a:spAutoFit/>
                  </a:bodyPr>
                  <a:lstStyle/>
                  <a:p>
                    <a:pPr algn="ctr"/>
                    <a:r>
                      <a:rPr lang="en-US" sz="1100" b="1">
                        <a:solidFill>
                          <a:srgbClr val="FFC000"/>
                        </a:solidFill>
                      </a:rPr>
                      <a:t>(6)</a:t>
                    </a:r>
                    <a:endParaRPr lang="nl-NL" sz="1100" b="1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238" name="TextBox 237">
                    <a:extLst>
                      <a:ext uri="{FF2B5EF4-FFF2-40B4-BE49-F238E27FC236}">
                        <a16:creationId xmlns="" xmlns:a16="http://schemas.microsoft.com/office/drawing/2014/main" id="{4345BF89-2299-4ADC-BC2F-518771D155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25759" y="3091836"/>
                    <a:ext cx="343364" cy="261610"/>
                  </a:xfrm>
                  <a:prstGeom prst="rect">
                    <a:avLst/>
                  </a:prstGeom>
                  <a:noFill/>
                </p:spPr>
                <p:txBody>
                  <a:bodyPr wrap="none" lIns="91440" tIns="45720" rIns="91440" bIns="45720" rtlCol="0" anchor="t">
                    <a:spAutoFit/>
                  </a:bodyPr>
                  <a:lstStyle/>
                  <a:p>
                    <a:pPr algn="ctr"/>
                    <a:r>
                      <a:rPr lang="en-US" sz="1100" b="1">
                        <a:solidFill>
                          <a:schemeClr val="accent2"/>
                        </a:solidFill>
                      </a:rPr>
                      <a:t>(6)</a:t>
                    </a:r>
                    <a:endParaRPr lang="nl-NL" sz="1100" b="1">
                      <a:solidFill>
                        <a:schemeClr val="accent2"/>
                      </a:solidFill>
                    </a:endParaRPr>
                  </a:p>
                </p:txBody>
              </p:sp>
            </p:grpSp>
          </p:grpSp>
          <p:grpSp>
            <p:nvGrpSpPr>
              <p:cNvPr id="228" name="Group 227">
                <a:extLst>
                  <a:ext uri="{FF2B5EF4-FFF2-40B4-BE49-F238E27FC236}">
                    <a16:creationId xmlns="" xmlns:a16="http://schemas.microsoft.com/office/drawing/2014/main" id="{CC7F5A7A-0D22-44BD-A376-7F3AD450B016}"/>
                  </a:ext>
                </a:extLst>
              </p:cNvPr>
              <p:cNvGrpSpPr/>
              <p:nvPr/>
            </p:nvGrpSpPr>
            <p:grpSpPr>
              <a:xfrm>
                <a:off x="4424240" y="2607166"/>
                <a:ext cx="302243" cy="384026"/>
                <a:chOff x="3081337" y="504825"/>
                <a:chExt cx="404813" cy="514350"/>
              </a:xfrm>
            </p:grpSpPr>
            <p:cxnSp>
              <p:nvCxnSpPr>
                <p:cNvPr id="229" name="Straight Arrow Connector 228">
                  <a:extLst>
                    <a:ext uri="{FF2B5EF4-FFF2-40B4-BE49-F238E27FC236}">
                      <a16:creationId xmlns="" xmlns:a16="http://schemas.microsoft.com/office/drawing/2014/main" id="{F307EBD5-FE95-4DFB-B102-688F87BA7E1C}"/>
                    </a:ext>
                  </a:extLst>
                </p:cNvPr>
                <p:cNvCxnSpPr/>
                <p:nvPr/>
              </p:nvCxnSpPr>
              <p:spPr>
                <a:xfrm>
                  <a:off x="3305175" y="685800"/>
                  <a:ext cx="0" cy="333375"/>
                </a:xfrm>
                <a:prstGeom prst="straightConnector1">
                  <a:avLst/>
                </a:prstGeom>
                <a:ln w="28575"/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230" name="Teardrop 229">
                  <a:extLst>
                    <a:ext uri="{FF2B5EF4-FFF2-40B4-BE49-F238E27FC236}">
                      <a16:creationId xmlns="" xmlns:a16="http://schemas.microsoft.com/office/drawing/2014/main" id="{174A6A12-6A65-4EB8-A90B-4321B2B87309}"/>
                    </a:ext>
                  </a:extLst>
                </p:cNvPr>
                <p:cNvSpPr/>
                <p:nvPr/>
              </p:nvSpPr>
              <p:spPr>
                <a:xfrm>
                  <a:off x="3295650" y="504825"/>
                  <a:ext cx="190500" cy="238125"/>
                </a:xfrm>
                <a:prstGeom prst="teardrop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231" name="Teardrop 230">
                  <a:extLst>
                    <a:ext uri="{FF2B5EF4-FFF2-40B4-BE49-F238E27FC236}">
                      <a16:creationId xmlns="" xmlns:a16="http://schemas.microsoft.com/office/drawing/2014/main" id="{D480229F-8972-43A2-80A0-78CC7AC651B1}"/>
                    </a:ext>
                  </a:extLst>
                </p:cNvPr>
                <p:cNvSpPr/>
                <p:nvPr/>
              </p:nvSpPr>
              <p:spPr>
                <a:xfrm rot="17580000">
                  <a:off x="3105150" y="523874"/>
                  <a:ext cx="190500" cy="238125"/>
                </a:xfrm>
                <a:prstGeom prst="teardrop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="" xmlns:a16="http://schemas.microsoft.com/office/drawing/2014/main" id="{909E2671-27B1-49E0-A10C-6B21D16ED4C6}"/>
                </a:ext>
              </a:extLst>
            </p:cNvPr>
            <p:cNvGrpSpPr/>
            <p:nvPr/>
          </p:nvGrpSpPr>
          <p:grpSpPr>
            <a:xfrm>
              <a:off x="6070608" y="2646286"/>
              <a:ext cx="1076118" cy="669234"/>
              <a:chOff x="3986899" y="2740293"/>
              <a:chExt cx="1076118" cy="669234"/>
            </a:xfrm>
          </p:grpSpPr>
          <p:sp>
            <p:nvSpPr>
              <p:cNvPr id="220" name="Trapezoid 219">
                <a:extLst>
                  <a:ext uri="{FF2B5EF4-FFF2-40B4-BE49-F238E27FC236}">
                    <a16:creationId xmlns="" xmlns:a16="http://schemas.microsoft.com/office/drawing/2014/main" id="{AEAE8D2D-9E05-4BFD-9549-013AB0AB1EF8}"/>
                  </a:ext>
                </a:extLst>
              </p:cNvPr>
              <p:cNvSpPr/>
              <p:nvPr/>
            </p:nvSpPr>
            <p:spPr>
              <a:xfrm rot="10800000">
                <a:off x="3986899" y="2740293"/>
                <a:ext cx="383992" cy="366383"/>
              </a:xfrm>
              <a:prstGeom prst="trapezoid">
                <a:avLst/>
              </a:prstGeom>
              <a:solidFill>
                <a:srgbClr val="5F2C09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21" name="Trapezoid 220">
                <a:extLst>
                  <a:ext uri="{FF2B5EF4-FFF2-40B4-BE49-F238E27FC236}">
                    <a16:creationId xmlns="" xmlns:a16="http://schemas.microsoft.com/office/drawing/2014/main" id="{81A7B333-6DE3-45B6-A026-8805E3B3E6CB}"/>
                  </a:ext>
                </a:extLst>
              </p:cNvPr>
              <p:cNvSpPr/>
              <p:nvPr/>
            </p:nvSpPr>
            <p:spPr>
              <a:xfrm rot="10800000">
                <a:off x="4679025" y="2740293"/>
                <a:ext cx="383992" cy="366383"/>
              </a:xfrm>
              <a:prstGeom prst="trapezoid">
                <a:avLst/>
              </a:prstGeom>
              <a:solidFill>
                <a:srgbClr val="5F2C09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="" xmlns:a16="http://schemas.microsoft.com/office/drawing/2014/main" id="{24E40C72-E18A-4F10-A7A5-2267EE36F02F}"/>
                  </a:ext>
                </a:extLst>
              </p:cNvPr>
              <p:cNvSpPr/>
              <p:nvPr/>
            </p:nvSpPr>
            <p:spPr>
              <a:xfrm>
                <a:off x="4110814" y="2825337"/>
                <a:ext cx="156333" cy="16185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140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="" xmlns:a16="http://schemas.microsoft.com/office/drawing/2014/main" id="{2BDD1317-7207-4668-9462-0865555C8B0B}"/>
                  </a:ext>
                </a:extLst>
              </p:cNvPr>
              <p:cNvSpPr/>
              <p:nvPr/>
            </p:nvSpPr>
            <p:spPr>
              <a:xfrm>
                <a:off x="4790184" y="2816229"/>
                <a:ext cx="156333" cy="161859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1400">
                  <a:solidFill>
                    <a:schemeClr val="accent4"/>
                  </a:solidFill>
                </a:endParaRPr>
              </a:p>
            </p:txBody>
          </p:sp>
          <p:grpSp>
            <p:nvGrpSpPr>
              <p:cNvPr id="224" name="Group 223">
                <a:extLst>
                  <a:ext uri="{FF2B5EF4-FFF2-40B4-BE49-F238E27FC236}">
                    <a16:creationId xmlns="" xmlns:a16="http://schemas.microsoft.com/office/drawing/2014/main" id="{B16CBB04-74A6-4433-821D-5BA9E9EB6B06}"/>
                  </a:ext>
                </a:extLst>
              </p:cNvPr>
              <p:cNvGrpSpPr/>
              <p:nvPr/>
            </p:nvGrpSpPr>
            <p:grpSpPr>
              <a:xfrm>
                <a:off x="3997998" y="3134931"/>
                <a:ext cx="1042031" cy="274596"/>
                <a:chOff x="1325759" y="3078850"/>
                <a:chExt cx="1042031" cy="274596"/>
              </a:xfrm>
            </p:grpSpPr>
            <p:sp>
              <p:nvSpPr>
                <p:cNvPr id="225" name="TextBox 224">
                  <a:extLst>
                    <a:ext uri="{FF2B5EF4-FFF2-40B4-BE49-F238E27FC236}">
                      <a16:creationId xmlns="" xmlns:a16="http://schemas.microsoft.com/office/drawing/2014/main" id="{7935E13C-9763-4548-963A-C291A74DD56E}"/>
                    </a:ext>
                  </a:extLst>
                </p:cNvPr>
                <p:cNvSpPr txBox="1"/>
                <p:nvPr/>
              </p:nvSpPr>
              <p:spPr>
                <a:xfrm>
                  <a:off x="2024426" y="3078850"/>
                  <a:ext cx="343364" cy="261610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t">
                  <a:spAutoFit/>
                </a:bodyPr>
                <a:lstStyle/>
                <a:p>
                  <a:pPr algn="ctr"/>
                  <a:r>
                    <a:rPr lang="en-US" sz="1100" b="1">
                      <a:solidFill>
                        <a:schemeClr val="accent6"/>
                      </a:solidFill>
                    </a:rPr>
                    <a:t>(6)</a:t>
                  </a:r>
                  <a:endParaRPr lang="nl-NL" sz="1100" b="1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226" name="TextBox 225">
                  <a:extLst>
                    <a:ext uri="{FF2B5EF4-FFF2-40B4-BE49-F238E27FC236}">
                      <a16:creationId xmlns="" xmlns:a16="http://schemas.microsoft.com/office/drawing/2014/main" id="{AB8580F8-1194-4D67-817D-C43AF0D54FA9}"/>
                    </a:ext>
                  </a:extLst>
                </p:cNvPr>
                <p:cNvSpPr txBox="1"/>
                <p:nvPr/>
              </p:nvSpPr>
              <p:spPr>
                <a:xfrm>
                  <a:off x="1325759" y="3091836"/>
                  <a:ext cx="343364" cy="261610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t">
                  <a:spAutoFit/>
                </a:bodyPr>
                <a:lstStyle/>
                <a:p>
                  <a:pPr algn="ctr"/>
                  <a:r>
                    <a:rPr lang="en-US" sz="1100" b="1">
                      <a:solidFill>
                        <a:schemeClr val="accent1"/>
                      </a:solidFill>
                    </a:rPr>
                    <a:t>(6)</a:t>
                  </a:r>
                  <a:endParaRPr lang="nl-NL" sz="1100" b="1">
                    <a:solidFill>
                      <a:schemeClr val="accent1"/>
                    </a:solidFill>
                  </a:endParaRPr>
                </a:p>
              </p:txBody>
            </p:sp>
          </p:grpSp>
        </p:grpSp>
        <p:grpSp>
          <p:nvGrpSpPr>
            <p:cNvPr id="195" name="Group 194">
              <a:extLst>
                <a:ext uri="{FF2B5EF4-FFF2-40B4-BE49-F238E27FC236}">
                  <a16:creationId xmlns="" xmlns:a16="http://schemas.microsoft.com/office/drawing/2014/main" id="{AD95F7BE-24E1-45F8-8088-D3F16963A0F6}"/>
                </a:ext>
              </a:extLst>
            </p:cNvPr>
            <p:cNvGrpSpPr/>
            <p:nvPr/>
          </p:nvGrpSpPr>
          <p:grpSpPr>
            <a:xfrm>
              <a:off x="6797199" y="2377186"/>
              <a:ext cx="302243" cy="384026"/>
              <a:chOff x="3081337" y="504825"/>
              <a:chExt cx="404813" cy="514350"/>
            </a:xfrm>
          </p:grpSpPr>
          <p:cxnSp>
            <p:nvCxnSpPr>
              <p:cNvPr id="217" name="Straight Arrow Connector 216">
                <a:extLst>
                  <a:ext uri="{FF2B5EF4-FFF2-40B4-BE49-F238E27FC236}">
                    <a16:creationId xmlns="" xmlns:a16="http://schemas.microsoft.com/office/drawing/2014/main" id="{CD61C784-C33B-4F04-8A3B-85DA517B0D20}"/>
                  </a:ext>
                </a:extLst>
              </p:cNvPr>
              <p:cNvCxnSpPr/>
              <p:nvPr/>
            </p:nvCxnSpPr>
            <p:spPr>
              <a:xfrm>
                <a:off x="3305175" y="685800"/>
                <a:ext cx="0" cy="333375"/>
              </a:xfrm>
              <a:prstGeom prst="straightConnector1">
                <a:avLst/>
              </a:prstGeom>
              <a:ln w="28575"/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18" name="Teardrop 217">
                <a:extLst>
                  <a:ext uri="{FF2B5EF4-FFF2-40B4-BE49-F238E27FC236}">
                    <a16:creationId xmlns="" xmlns:a16="http://schemas.microsoft.com/office/drawing/2014/main" id="{A37366E2-B8D8-4149-AE08-2B07EF84BB7C}"/>
                  </a:ext>
                </a:extLst>
              </p:cNvPr>
              <p:cNvSpPr/>
              <p:nvPr/>
            </p:nvSpPr>
            <p:spPr>
              <a:xfrm>
                <a:off x="3295650" y="504825"/>
                <a:ext cx="190500" cy="238125"/>
              </a:xfrm>
              <a:prstGeom prst="teardrop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19" name="Teardrop 218">
                <a:extLst>
                  <a:ext uri="{FF2B5EF4-FFF2-40B4-BE49-F238E27FC236}">
                    <a16:creationId xmlns="" xmlns:a16="http://schemas.microsoft.com/office/drawing/2014/main" id="{94BE00B3-C605-493C-B24B-DF19F0421A5D}"/>
                  </a:ext>
                </a:extLst>
              </p:cNvPr>
              <p:cNvSpPr/>
              <p:nvPr/>
            </p:nvSpPr>
            <p:spPr>
              <a:xfrm rot="17580000">
                <a:off x="3105150" y="523874"/>
                <a:ext cx="190500" cy="238125"/>
              </a:xfrm>
              <a:prstGeom prst="teardrop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="" xmlns:a16="http://schemas.microsoft.com/office/drawing/2014/main" id="{21211E6A-3F12-45FE-8A9B-C0E26CFA6551}"/>
                </a:ext>
              </a:extLst>
            </p:cNvPr>
            <p:cNvGrpSpPr/>
            <p:nvPr/>
          </p:nvGrpSpPr>
          <p:grpSpPr>
            <a:xfrm>
              <a:off x="6102267" y="2397026"/>
              <a:ext cx="302243" cy="384026"/>
              <a:chOff x="3081337" y="504825"/>
              <a:chExt cx="404813" cy="514350"/>
            </a:xfrm>
          </p:grpSpPr>
          <p:cxnSp>
            <p:nvCxnSpPr>
              <p:cNvPr id="214" name="Straight Arrow Connector 213">
                <a:extLst>
                  <a:ext uri="{FF2B5EF4-FFF2-40B4-BE49-F238E27FC236}">
                    <a16:creationId xmlns="" xmlns:a16="http://schemas.microsoft.com/office/drawing/2014/main" id="{D2C55543-1220-4E63-9A91-C5D4542EDC3D}"/>
                  </a:ext>
                </a:extLst>
              </p:cNvPr>
              <p:cNvCxnSpPr/>
              <p:nvPr/>
            </p:nvCxnSpPr>
            <p:spPr>
              <a:xfrm>
                <a:off x="3305175" y="685800"/>
                <a:ext cx="0" cy="333375"/>
              </a:xfrm>
              <a:prstGeom prst="straightConnector1">
                <a:avLst/>
              </a:prstGeom>
              <a:ln w="28575"/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15" name="Teardrop 214">
                <a:extLst>
                  <a:ext uri="{FF2B5EF4-FFF2-40B4-BE49-F238E27FC236}">
                    <a16:creationId xmlns="" xmlns:a16="http://schemas.microsoft.com/office/drawing/2014/main" id="{9D4901BE-4D5A-46BF-A92A-351AD50B81CC}"/>
                  </a:ext>
                </a:extLst>
              </p:cNvPr>
              <p:cNvSpPr/>
              <p:nvPr/>
            </p:nvSpPr>
            <p:spPr>
              <a:xfrm>
                <a:off x="3295650" y="504825"/>
                <a:ext cx="190500" cy="238125"/>
              </a:xfrm>
              <a:prstGeom prst="teardrop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16" name="Teardrop 215">
                <a:extLst>
                  <a:ext uri="{FF2B5EF4-FFF2-40B4-BE49-F238E27FC236}">
                    <a16:creationId xmlns="" xmlns:a16="http://schemas.microsoft.com/office/drawing/2014/main" id="{EC4287D8-5B16-4188-BEED-B31D18F46175}"/>
                  </a:ext>
                </a:extLst>
              </p:cNvPr>
              <p:cNvSpPr/>
              <p:nvPr/>
            </p:nvSpPr>
            <p:spPr>
              <a:xfrm rot="17580000">
                <a:off x="3105150" y="523874"/>
                <a:ext cx="190500" cy="238125"/>
              </a:xfrm>
              <a:prstGeom prst="teardrop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="" xmlns:a16="http://schemas.microsoft.com/office/drawing/2014/main" id="{855FCD8A-54D3-480D-A7C2-42C1BA74A631}"/>
                </a:ext>
              </a:extLst>
            </p:cNvPr>
            <p:cNvGrpSpPr/>
            <p:nvPr/>
          </p:nvGrpSpPr>
          <p:grpSpPr>
            <a:xfrm>
              <a:off x="5401713" y="2357401"/>
              <a:ext cx="383992" cy="925348"/>
              <a:chOff x="7380063" y="2139797"/>
              <a:chExt cx="383992" cy="925348"/>
            </a:xfrm>
          </p:grpSpPr>
          <p:sp>
            <p:nvSpPr>
              <p:cNvPr id="207" name="Trapezoid 206">
                <a:extLst>
                  <a:ext uri="{FF2B5EF4-FFF2-40B4-BE49-F238E27FC236}">
                    <a16:creationId xmlns="" xmlns:a16="http://schemas.microsoft.com/office/drawing/2014/main" id="{4A1BAE62-2825-49EC-984F-48823AFFAFFA}"/>
                  </a:ext>
                </a:extLst>
              </p:cNvPr>
              <p:cNvSpPr/>
              <p:nvPr/>
            </p:nvSpPr>
            <p:spPr>
              <a:xfrm rot="10800000">
                <a:off x="7380063" y="2408897"/>
                <a:ext cx="383992" cy="366383"/>
              </a:xfrm>
              <a:prstGeom prst="trapezoid">
                <a:avLst/>
              </a:prstGeom>
              <a:solidFill>
                <a:srgbClr val="5F2C09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="" xmlns:a16="http://schemas.microsoft.com/office/drawing/2014/main" id="{98328EE7-DEF7-4ABC-9CF6-2BD0B573B606}"/>
                  </a:ext>
                </a:extLst>
              </p:cNvPr>
              <p:cNvSpPr/>
              <p:nvPr/>
            </p:nvSpPr>
            <p:spPr>
              <a:xfrm>
                <a:off x="7491222" y="2484833"/>
                <a:ext cx="156333" cy="1618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140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="" xmlns:a16="http://schemas.microsoft.com/office/drawing/2014/main" id="{2FF6229D-C043-4A36-A7B2-D555D7653206}"/>
                  </a:ext>
                </a:extLst>
              </p:cNvPr>
              <p:cNvSpPr txBox="1"/>
              <p:nvPr/>
            </p:nvSpPr>
            <p:spPr>
              <a:xfrm>
                <a:off x="7397703" y="2803535"/>
                <a:ext cx="343364" cy="26161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algn="ctr"/>
                <a:r>
                  <a:rPr lang="en-US" sz="1100" b="1">
                    <a:solidFill>
                      <a:srgbClr val="FF0000"/>
                    </a:solidFill>
                  </a:rPr>
                  <a:t>(6)</a:t>
                </a:r>
                <a:endParaRPr lang="nl-NL" sz="1100" b="1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210" name="Group 209">
                <a:extLst>
                  <a:ext uri="{FF2B5EF4-FFF2-40B4-BE49-F238E27FC236}">
                    <a16:creationId xmlns="" xmlns:a16="http://schemas.microsoft.com/office/drawing/2014/main" id="{4160A85F-2651-4400-9C0D-54E7F8123374}"/>
                  </a:ext>
                </a:extLst>
              </p:cNvPr>
              <p:cNvGrpSpPr/>
              <p:nvPr/>
            </p:nvGrpSpPr>
            <p:grpSpPr>
              <a:xfrm>
                <a:off x="7414528" y="2139797"/>
                <a:ext cx="302243" cy="384026"/>
                <a:chOff x="3081337" y="504825"/>
                <a:chExt cx="404813" cy="514350"/>
              </a:xfrm>
            </p:grpSpPr>
            <p:cxnSp>
              <p:nvCxnSpPr>
                <p:cNvPr id="211" name="Straight Arrow Connector 210">
                  <a:extLst>
                    <a:ext uri="{FF2B5EF4-FFF2-40B4-BE49-F238E27FC236}">
                      <a16:creationId xmlns="" xmlns:a16="http://schemas.microsoft.com/office/drawing/2014/main" id="{287F5571-093C-4E34-AADF-FF6E90F8CCC5}"/>
                    </a:ext>
                  </a:extLst>
                </p:cNvPr>
                <p:cNvCxnSpPr/>
                <p:nvPr/>
              </p:nvCxnSpPr>
              <p:spPr>
                <a:xfrm>
                  <a:off x="3305175" y="685800"/>
                  <a:ext cx="0" cy="333375"/>
                </a:xfrm>
                <a:prstGeom prst="straightConnector1">
                  <a:avLst/>
                </a:prstGeom>
                <a:ln w="28575"/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212" name="Teardrop 211">
                  <a:extLst>
                    <a:ext uri="{FF2B5EF4-FFF2-40B4-BE49-F238E27FC236}">
                      <a16:creationId xmlns="" xmlns:a16="http://schemas.microsoft.com/office/drawing/2014/main" id="{714B3D14-0BF9-48B5-B24D-BA89424FE8DA}"/>
                    </a:ext>
                  </a:extLst>
                </p:cNvPr>
                <p:cNvSpPr/>
                <p:nvPr/>
              </p:nvSpPr>
              <p:spPr>
                <a:xfrm>
                  <a:off x="3295650" y="504825"/>
                  <a:ext cx="190500" cy="238125"/>
                </a:xfrm>
                <a:prstGeom prst="teardrop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213" name="Teardrop 212">
                  <a:extLst>
                    <a:ext uri="{FF2B5EF4-FFF2-40B4-BE49-F238E27FC236}">
                      <a16:creationId xmlns="" xmlns:a16="http://schemas.microsoft.com/office/drawing/2014/main" id="{2B718C7E-9A22-467C-B0C1-C22F78CB8ACE}"/>
                    </a:ext>
                  </a:extLst>
                </p:cNvPr>
                <p:cNvSpPr/>
                <p:nvPr/>
              </p:nvSpPr>
              <p:spPr>
                <a:xfrm rot="17580000">
                  <a:off x="3105150" y="523874"/>
                  <a:ext cx="190500" cy="238125"/>
                </a:xfrm>
                <a:prstGeom prst="teardrop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</p:grpSp>
        <p:grpSp>
          <p:nvGrpSpPr>
            <p:cNvPr id="198" name="Group 197">
              <a:extLst>
                <a:ext uri="{FF2B5EF4-FFF2-40B4-BE49-F238E27FC236}">
                  <a16:creationId xmlns="" xmlns:a16="http://schemas.microsoft.com/office/drawing/2014/main" id="{F48F7B11-D731-422E-A72C-F1F0F1736A34}"/>
                </a:ext>
              </a:extLst>
            </p:cNvPr>
            <p:cNvGrpSpPr/>
            <p:nvPr/>
          </p:nvGrpSpPr>
          <p:grpSpPr>
            <a:xfrm>
              <a:off x="7398392" y="2378538"/>
              <a:ext cx="383992" cy="925348"/>
              <a:chOff x="7380063" y="2139797"/>
              <a:chExt cx="383992" cy="925348"/>
            </a:xfrm>
          </p:grpSpPr>
          <p:sp>
            <p:nvSpPr>
              <p:cNvPr id="200" name="Trapezoid 199">
                <a:extLst>
                  <a:ext uri="{FF2B5EF4-FFF2-40B4-BE49-F238E27FC236}">
                    <a16:creationId xmlns="" xmlns:a16="http://schemas.microsoft.com/office/drawing/2014/main" id="{4E6098B3-9E03-4372-8C62-76033B4FA03C}"/>
                  </a:ext>
                </a:extLst>
              </p:cNvPr>
              <p:cNvSpPr/>
              <p:nvPr/>
            </p:nvSpPr>
            <p:spPr>
              <a:xfrm rot="10800000">
                <a:off x="7380063" y="2408897"/>
                <a:ext cx="383992" cy="366383"/>
              </a:xfrm>
              <a:prstGeom prst="trapezoid">
                <a:avLst/>
              </a:prstGeom>
              <a:solidFill>
                <a:srgbClr val="5F2C09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="" xmlns:a16="http://schemas.microsoft.com/office/drawing/2014/main" id="{4EE8DB47-492D-4326-96E3-4FEFD5154F37}"/>
                  </a:ext>
                </a:extLst>
              </p:cNvPr>
              <p:cNvSpPr/>
              <p:nvPr/>
            </p:nvSpPr>
            <p:spPr>
              <a:xfrm>
                <a:off x="7491222" y="2484833"/>
                <a:ext cx="156333" cy="161859"/>
              </a:xfrm>
              <a:prstGeom prst="ellipse">
                <a:avLst/>
              </a:prstGeom>
              <a:solidFill>
                <a:srgbClr val="5F2C09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140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="" xmlns:a16="http://schemas.microsoft.com/office/drawing/2014/main" id="{359F1C59-26EE-4B32-B959-E87B31F85391}"/>
                  </a:ext>
                </a:extLst>
              </p:cNvPr>
              <p:cNvSpPr txBox="1"/>
              <p:nvPr/>
            </p:nvSpPr>
            <p:spPr>
              <a:xfrm>
                <a:off x="7397703" y="2803535"/>
                <a:ext cx="343364" cy="26161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algn="ctr"/>
                <a:r>
                  <a:rPr lang="en-US" sz="1100" b="1">
                    <a:solidFill>
                      <a:schemeClr val="accent2">
                        <a:lumMod val="50000"/>
                      </a:schemeClr>
                    </a:solidFill>
                  </a:rPr>
                  <a:t>(6)</a:t>
                </a:r>
                <a:endParaRPr lang="nl-NL" sz="11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203" name="Group 202">
                <a:extLst>
                  <a:ext uri="{FF2B5EF4-FFF2-40B4-BE49-F238E27FC236}">
                    <a16:creationId xmlns="" xmlns:a16="http://schemas.microsoft.com/office/drawing/2014/main" id="{6D4F9127-FCF9-46CA-A2C4-3EEC894731BC}"/>
                  </a:ext>
                </a:extLst>
              </p:cNvPr>
              <p:cNvGrpSpPr/>
              <p:nvPr/>
            </p:nvGrpSpPr>
            <p:grpSpPr>
              <a:xfrm>
                <a:off x="7414528" y="2139797"/>
                <a:ext cx="302243" cy="384026"/>
                <a:chOff x="3081337" y="504825"/>
                <a:chExt cx="404813" cy="514350"/>
              </a:xfrm>
            </p:grpSpPr>
            <p:cxnSp>
              <p:nvCxnSpPr>
                <p:cNvPr id="204" name="Straight Arrow Connector 203">
                  <a:extLst>
                    <a:ext uri="{FF2B5EF4-FFF2-40B4-BE49-F238E27FC236}">
                      <a16:creationId xmlns="" xmlns:a16="http://schemas.microsoft.com/office/drawing/2014/main" id="{3A34F900-CE94-4622-9A49-7F7D2B7119B3}"/>
                    </a:ext>
                  </a:extLst>
                </p:cNvPr>
                <p:cNvCxnSpPr/>
                <p:nvPr/>
              </p:nvCxnSpPr>
              <p:spPr>
                <a:xfrm>
                  <a:off x="3305175" y="685800"/>
                  <a:ext cx="0" cy="333375"/>
                </a:xfrm>
                <a:prstGeom prst="straightConnector1">
                  <a:avLst/>
                </a:prstGeom>
                <a:ln w="28575"/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205" name="Teardrop 204">
                  <a:extLst>
                    <a:ext uri="{FF2B5EF4-FFF2-40B4-BE49-F238E27FC236}">
                      <a16:creationId xmlns="" xmlns:a16="http://schemas.microsoft.com/office/drawing/2014/main" id="{FD62660C-6186-45A3-8B03-0A2A7BA0F783}"/>
                    </a:ext>
                  </a:extLst>
                </p:cNvPr>
                <p:cNvSpPr/>
                <p:nvPr/>
              </p:nvSpPr>
              <p:spPr>
                <a:xfrm>
                  <a:off x="3295650" y="504825"/>
                  <a:ext cx="190500" cy="238125"/>
                </a:xfrm>
                <a:prstGeom prst="teardrop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206" name="Teardrop 205">
                  <a:extLst>
                    <a:ext uri="{FF2B5EF4-FFF2-40B4-BE49-F238E27FC236}">
                      <a16:creationId xmlns="" xmlns:a16="http://schemas.microsoft.com/office/drawing/2014/main" id="{21C97729-D393-4251-8C92-894844850D7C}"/>
                    </a:ext>
                  </a:extLst>
                </p:cNvPr>
                <p:cNvSpPr/>
                <p:nvPr/>
              </p:nvSpPr>
              <p:spPr>
                <a:xfrm rot="17580000">
                  <a:off x="3105150" y="523874"/>
                  <a:ext cx="190500" cy="238125"/>
                </a:xfrm>
                <a:prstGeom prst="teardrop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</p:grpSp>
        <p:sp>
          <p:nvSpPr>
            <p:cNvPr id="199" name="TextBox 198">
              <a:extLst>
                <a:ext uri="{FF2B5EF4-FFF2-40B4-BE49-F238E27FC236}">
                  <a16:creationId xmlns="" xmlns:a16="http://schemas.microsoft.com/office/drawing/2014/main" id="{2372018C-F035-4B2C-A82B-03B1093B6E50}"/>
                </a:ext>
              </a:extLst>
            </p:cNvPr>
            <p:cNvSpPr txBox="1"/>
            <p:nvPr/>
          </p:nvSpPr>
          <p:spPr>
            <a:xfrm>
              <a:off x="7866465" y="2685830"/>
              <a:ext cx="5068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/>
                <a:t>+ </a:t>
              </a:r>
              <a:r>
                <a:rPr lang="en-US" sz="1200" b="1" i="1" err="1"/>
                <a:t>B.o</a:t>
              </a:r>
              <a:endParaRPr lang="en-US" sz="1200" b="1" i="1"/>
            </a:p>
          </p:txBody>
        </p:sp>
      </p:grpSp>
      <p:sp>
        <p:nvSpPr>
          <p:cNvPr id="242" name="Rectangle 241">
            <a:extLst>
              <a:ext uri="{FF2B5EF4-FFF2-40B4-BE49-F238E27FC236}">
                <a16:creationId xmlns="" xmlns:a16="http://schemas.microsoft.com/office/drawing/2014/main" id="{9BA40D69-ACD8-4E96-82FB-D77C9F43E031}"/>
              </a:ext>
            </a:extLst>
          </p:cNvPr>
          <p:cNvSpPr/>
          <p:nvPr/>
        </p:nvSpPr>
        <p:spPr>
          <a:xfrm>
            <a:off x="1949913" y="1255626"/>
            <a:ext cx="4599284" cy="1254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43" name="TextBox 242">
            <a:extLst>
              <a:ext uri="{FF2B5EF4-FFF2-40B4-BE49-F238E27FC236}">
                <a16:creationId xmlns="" xmlns:a16="http://schemas.microsoft.com/office/drawing/2014/main" id="{BFD54884-CDE9-4D40-AA8B-BAE5ECE188A4}"/>
              </a:ext>
            </a:extLst>
          </p:cNvPr>
          <p:cNvSpPr txBox="1"/>
          <p:nvPr/>
        </p:nvSpPr>
        <p:spPr>
          <a:xfrm>
            <a:off x="5856958" y="3933096"/>
            <a:ext cx="6286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12 days</a:t>
            </a:r>
            <a:endParaRPr lang="nl-NL" sz="1100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="" xmlns:a16="http://schemas.microsoft.com/office/drawing/2014/main" id="{B01968D4-DA2E-46AD-A6AC-91138E453333}"/>
              </a:ext>
            </a:extLst>
          </p:cNvPr>
          <p:cNvSpPr txBox="1"/>
          <p:nvPr/>
        </p:nvSpPr>
        <p:spPr>
          <a:xfrm>
            <a:off x="2332909" y="3524505"/>
            <a:ext cx="17491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/>
              <a:t>Growth until 3-5 leaf stage</a:t>
            </a:r>
            <a:endParaRPr lang="nl-NL" sz="1100" b="1" dirty="0"/>
          </a:p>
        </p:txBody>
      </p:sp>
      <p:grpSp>
        <p:nvGrpSpPr>
          <p:cNvPr id="245" name="Group 244">
            <a:extLst>
              <a:ext uri="{FF2B5EF4-FFF2-40B4-BE49-F238E27FC236}">
                <a16:creationId xmlns="" xmlns:a16="http://schemas.microsoft.com/office/drawing/2014/main" id="{488E6BEB-340A-4C85-8563-B8ADC610CC71}"/>
              </a:ext>
            </a:extLst>
          </p:cNvPr>
          <p:cNvGrpSpPr/>
          <p:nvPr/>
        </p:nvGrpSpPr>
        <p:grpSpPr>
          <a:xfrm>
            <a:off x="2297745" y="1356156"/>
            <a:ext cx="1912458" cy="1925070"/>
            <a:chOff x="3500507" y="1818973"/>
            <a:chExt cx="1912458" cy="1925070"/>
          </a:xfrm>
        </p:grpSpPr>
        <p:grpSp>
          <p:nvGrpSpPr>
            <p:cNvPr id="246" name="Group 245">
              <a:extLst>
                <a:ext uri="{FF2B5EF4-FFF2-40B4-BE49-F238E27FC236}">
                  <a16:creationId xmlns="" xmlns:a16="http://schemas.microsoft.com/office/drawing/2014/main" id="{74AFA2D4-8D39-44D6-89A3-EC744758422C}"/>
                </a:ext>
              </a:extLst>
            </p:cNvPr>
            <p:cNvGrpSpPr/>
            <p:nvPr/>
          </p:nvGrpSpPr>
          <p:grpSpPr>
            <a:xfrm>
              <a:off x="3599430" y="1818973"/>
              <a:ext cx="302243" cy="384026"/>
              <a:chOff x="3081337" y="504825"/>
              <a:chExt cx="404813" cy="514350"/>
            </a:xfrm>
          </p:grpSpPr>
          <p:cxnSp>
            <p:nvCxnSpPr>
              <p:cNvPr id="292" name="Straight Arrow Connector 291">
                <a:extLst>
                  <a:ext uri="{FF2B5EF4-FFF2-40B4-BE49-F238E27FC236}">
                    <a16:creationId xmlns="" xmlns:a16="http://schemas.microsoft.com/office/drawing/2014/main" id="{E5E544B9-A1DA-442E-9148-437F9F885B64}"/>
                  </a:ext>
                </a:extLst>
              </p:cNvPr>
              <p:cNvCxnSpPr/>
              <p:nvPr/>
            </p:nvCxnSpPr>
            <p:spPr>
              <a:xfrm>
                <a:off x="3305175" y="685800"/>
                <a:ext cx="0" cy="333375"/>
              </a:xfrm>
              <a:prstGeom prst="straightConnector1">
                <a:avLst/>
              </a:prstGeom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93" name="Teardrop 292">
                <a:extLst>
                  <a:ext uri="{FF2B5EF4-FFF2-40B4-BE49-F238E27FC236}">
                    <a16:creationId xmlns="" xmlns:a16="http://schemas.microsoft.com/office/drawing/2014/main" id="{D3DE1817-6304-4EF9-90E6-DD4EAC9E4D13}"/>
                  </a:ext>
                </a:extLst>
              </p:cNvPr>
              <p:cNvSpPr/>
              <p:nvPr/>
            </p:nvSpPr>
            <p:spPr>
              <a:xfrm>
                <a:off x="3295650" y="504825"/>
                <a:ext cx="190500" cy="238125"/>
              </a:xfrm>
              <a:prstGeom prst="teardrop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94" name="Teardrop 293">
                <a:extLst>
                  <a:ext uri="{FF2B5EF4-FFF2-40B4-BE49-F238E27FC236}">
                    <a16:creationId xmlns="" xmlns:a16="http://schemas.microsoft.com/office/drawing/2014/main" id="{E1F43799-D949-4B0B-BCF4-1B3D87272954}"/>
                  </a:ext>
                </a:extLst>
              </p:cNvPr>
              <p:cNvSpPr/>
              <p:nvPr/>
            </p:nvSpPr>
            <p:spPr>
              <a:xfrm rot="17580000">
                <a:off x="3105150" y="523874"/>
                <a:ext cx="190500" cy="238125"/>
              </a:xfrm>
              <a:prstGeom prst="teardrop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="" xmlns:a16="http://schemas.microsoft.com/office/drawing/2014/main" id="{7750FE13-367F-4A88-866D-A2BE5855973D}"/>
                </a:ext>
              </a:extLst>
            </p:cNvPr>
            <p:cNvGrpSpPr/>
            <p:nvPr/>
          </p:nvGrpSpPr>
          <p:grpSpPr>
            <a:xfrm>
              <a:off x="3558556" y="1820076"/>
              <a:ext cx="1076118" cy="938334"/>
              <a:chOff x="3697649" y="2607166"/>
              <a:chExt cx="1076118" cy="938334"/>
            </a:xfrm>
          </p:grpSpPr>
          <p:grpSp>
            <p:nvGrpSpPr>
              <p:cNvPr id="282" name="Group 281">
                <a:extLst>
                  <a:ext uri="{FF2B5EF4-FFF2-40B4-BE49-F238E27FC236}">
                    <a16:creationId xmlns="" xmlns:a16="http://schemas.microsoft.com/office/drawing/2014/main" id="{93346042-D587-4D9E-9754-0EC88F563B6D}"/>
                  </a:ext>
                </a:extLst>
              </p:cNvPr>
              <p:cNvGrpSpPr/>
              <p:nvPr/>
            </p:nvGrpSpPr>
            <p:grpSpPr>
              <a:xfrm>
                <a:off x="3697649" y="2876266"/>
                <a:ext cx="1076118" cy="669234"/>
                <a:chOff x="3986899" y="2740293"/>
                <a:chExt cx="1076118" cy="669234"/>
              </a:xfrm>
            </p:grpSpPr>
            <p:sp>
              <p:nvSpPr>
                <p:cNvPr id="287" name="Trapezoid 286">
                  <a:extLst>
                    <a:ext uri="{FF2B5EF4-FFF2-40B4-BE49-F238E27FC236}">
                      <a16:creationId xmlns="" xmlns:a16="http://schemas.microsoft.com/office/drawing/2014/main" id="{3F5F75C5-B02C-465F-8B23-44AA32605455}"/>
                    </a:ext>
                  </a:extLst>
                </p:cNvPr>
                <p:cNvSpPr/>
                <p:nvPr/>
              </p:nvSpPr>
              <p:spPr>
                <a:xfrm rot="10800000">
                  <a:off x="3986899" y="2740293"/>
                  <a:ext cx="383992" cy="366383"/>
                </a:xfrm>
                <a:prstGeom prst="trapezoid">
                  <a:avLst/>
                </a:prstGeom>
                <a:solidFill>
                  <a:srgbClr val="5F2C09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288" name="Trapezoid 287">
                  <a:extLst>
                    <a:ext uri="{FF2B5EF4-FFF2-40B4-BE49-F238E27FC236}">
                      <a16:creationId xmlns="" xmlns:a16="http://schemas.microsoft.com/office/drawing/2014/main" id="{8EF4E7BA-F62C-4183-B544-DAB1CFCA65F7}"/>
                    </a:ext>
                  </a:extLst>
                </p:cNvPr>
                <p:cNvSpPr/>
                <p:nvPr/>
              </p:nvSpPr>
              <p:spPr>
                <a:xfrm rot="10800000">
                  <a:off x="4679025" y="2740293"/>
                  <a:ext cx="383992" cy="366383"/>
                </a:xfrm>
                <a:prstGeom prst="trapezoid">
                  <a:avLst/>
                </a:prstGeom>
                <a:solidFill>
                  <a:srgbClr val="5F2C09">
                    <a:alpha val="50196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289" name="Oval 288">
                  <a:extLst>
                    <a:ext uri="{FF2B5EF4-FFF2-40B4-BE49-F238E27FC236}">
                      <a16:creationId xmlns="" xmlns:a16="http://schemas.microsoft.com/office/drawing/2014/main" id="{8B0718AD-9A2F-4E5B-8A04-7102A7E8646A}"/>
                    </a:ext>
                  </a:extLst>
                </p:cNvPr>
                <p:cNvSpPr/>
                <p:nvPr/>
              </p:nvSpPr>
              <p:spPr>
                <a:xfrm>
                  <a:off x="4110814" y="2825337"/>
                  <a:ext cx="156333" cy="161859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1400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290" name="Oval 289">
                  <a:extLst>
                    <a:ext uri="{FF2B5EF4-FFF2-40B4-BE49-F238E27FC236}">
                      <a16:creationId xmlns="" xmlns:a16="http://schemas.microsoft.com/office/drawing/2014/main" id="{53F41B11-AADF-4123-8FC7-BFFA9B22BF53}"/>
                    </a:ext>
                  </a:extLst>
                </p:cNvPr>
                <p:cNvSpPr/>
                <p:nvPr/>
              </p:nvSpPr>
              <p:spPr>
                <a:xfrm>
                  <a:off x="4790184" y="2816229"/>
                  <a:ext cx="156333" cy="161859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1400"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291" name="TextBox 290">
                  <a:extLst>
                    <a:ext uri="{FF2B5EF4-FFF2-40B4-BE49-F238E27FC236}">
                      <a16:creationId xmlns="" xmlns:a16="http://schemas.microsoft.com/office/drawing/2014/main" id="{478504AA-1785-42F0-AD4D-4AE16E2144F6}"/>
                    </a:ext>
                  </a:extLst>
                </p:cNvPr>
                <p:cNvSpPr txBox="1"/>
                <p:nvPr/>
              </p:nvSpPr>
              <p:spPr>
                <a:xfrm>
                  <a:off x="4077314" y="3147917"/>
                  <a:ext cx="184730" cy="261610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t">
                  <a:spAutoFit/>
                </a:bodyPr>
                <a:lstStyle/>
                <a:p>
                  <a:pPr algn="ctr"/>
                  <a:endParaRPr lang="nl-NL" sz="1100" b="1">
                    <a:solidFill>
                      <a:schemeClr val="accent2"/>
                    </a:solidFill>
                  </a:endParaRPr>
                </a:p>
              </p:txBody>
            </p:sp>
          </p:grpSp>
          <p:grpSp>
            <p:nvGrpSpPr>
              <p:cNvPr id="283" name="Group 282">
                <a:extLst>
                  <a:ext uri="{FF2B5EF4-FFF2-40B4-BE49-F238E27FC236}">
                    <a16:creationId xmlns="" xmlns:a16="http://schemas.microsoft.com/office/drawing/2014/main" id="{640BC76C-507B-4221-9910-B80EF6D853CA}"/>
                  </a:ext>
                </a:extLst>
              </p:cNvPr>
              <p:cNvGrpSpPr/>
              <p:nvPr/>
            </p:nvGrpSpPr>
            <p:grpSpPr>
              <a:xfrm>
                <a:off x="4424240" y="2607166"/>
                <a:ext cx="302243" cy="384026"/>
                <a:chOff x="3081337" y="504825"/>
                <a:chExt cx="404813" cy="514350"/>
              </a:xfrm>
            </p:grpSpPr>
            <p:cxnSp>
              <p:nvCxnSpPr>
                <p:cNvPr id="284" name="Straight Arrow Connector 283">
                  <a:extLst>
                    <a:ext uri="{FF2B5EF4-FFF2-40B4-BE49-F238E27FC236}">
                      <a16:creationId xmlns="" xmlns:a16="http://schemas.microsoft.com/office/drawing/2014/main" id="{470EF77B-E819-4448-A277-6063F0D58954}"/>
                    </a:ext>
                  </a:extLst>
                </p:cNvPr>
                <p:cNvCxnSpPr/>
                <p:nvPr/>
              </p:nvCxnSpPr>
              <p:spPr>
                <a:xfrm>
                  <a:off x="3305175" y="685800"/>
                  <a:ext cx="0" cy="333375"/>
                </a:xfrm>
                <a:prstGeom prst="straightConnector1">
                  <a:avLst/>
                </a:prstGeom>
                <a:ln w="28575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285" name="Teardrop 284">
                  <a:extLst>
                    <a:ext uri="{FF2B5EF4-FFF2-40B4-BE49-F238E27FC236}">
                      <a16:creationId xmlns="" xmlns:a16="http://schemas.microsoft.com/office/drawing/2014/main" id="{D00665F7-7413-46E2-900A-3675473A7BA2}"/>
                    </a:ext>
                  </a:extLst>
                </p:cNvPr>
                <p:cNvSpPr/>
                <p:nvPr/>
              </p:nvSpPr>
              <p:spPr>
                <a:xfrm>
                  <a:off x="3295650" y="504825"/>
                  <a:ext cx="190500" cy="238125"/>
                </a:xfrm>
                <a:prstGeom prst="teardrop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286" name="Teardrop 285">
                  <a:extLst>
                    <a:ext uri="{FF2B5EF4-FFF2-40B4-BE49-F238E27FC236}">
                      <a16:creationId xmlns="" xmlns:a16="http://schemas.microsoft.com/office/drawing/2014/main" id="{15600E8F-94AE-42A9-88FF-AABB053DB055}"/>
                    </a:ext>
                  </a:extLst>
                </p:cNvPr>
                <p:cNvSpPr/>
                <p:nvPr/>
              </p:nvSpPr>
              <p:spPr>
                <a:xfrm rot="17580000">
                  <a:off x="3105150" y="523874"/>
                  <a:ext cx="190500" cy="238125"/>
                </a:xfrm>
                <a:prstGeom prst="teardrop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</p:grpSp>
        <p:grpSp>
          <p:nvGrpSpPr>
            <p:cNvPr id="248" name="Group 247">
              <a:extLst>
                <a:ext uri="{FF2B5EF4-FFF2-40B4-BE49-F238E27FC236}">
                  <a16:creationId xmlns="" xmlns:a16="http://schemas.microsoft.com/office/drawing/2014/main" id="{FA58DAB8-87D1-460F-8D83-FEEFBA2A4A9D}"/>
                </a:ext>
              </a:extLst>
            </p:cNvPr>
            <p:cNvGrpSpPr/>
            <p:nvPr/>
          </p:nvGrpSpPr>
          <p:grpSpPr>
            <a:xfrm>
              <a:off x="3578709" y="3116049"/>
              <a:ext cx="1076118" cy="366383"/>
              <a:chOff x="3986899" y="2740293"/>
              <a:chExt cx="1076118" cy="366383"/>
            </a:xfrm>
          </p:grpSpPr>
          <p:sp>
            <p:nvSpPr>
              <p:cNvPr id="278" name="Trapezoid 277">
                <a:extLst>
                  <a:ext uri="{FF2B5EF4-FFF2-40B4-BE49-F238E27FC236}">
                    <a16:creationId xmlns="" xmlns:a16="http://schemas.microsoft.com/office/drawing/2014/main" id="{FB9A0C1A-9F49-469E-B1AC-D6716B0ED794}"/>
                  </a:ext>
                </a:extLst>
              </p:cNvPr>
              <p:cNvSpPr/>
              <p:nvPr/>
            </p:nvSpPr>
            <p:spPr>
              <a:xfrm rot="10800000">
                <a:off x="3986899" y="2740293"/>
                <a:ext cx="383992" cy="366383"/>
              </a:xfrm>
              <a:prstGeom prst="trapezoid">
                <a:avLst/>
              </a:prstGeom>
              <a:solidFill>
                <a:srgbClr val="5F2C09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79" name="Trapezoid 278">
                <a:extLst>
                  <a:ext uri="{FF2B5EF4-FFF2-40B4-BE49-F238E27FC236}">
                    <a16:creationId xmlns="" xmlns:a16="http://schemas.microsoft.com/office/drawing/2014/main" id="{B2D646CE-59EB-4E5F-8FA4-103297F9BA41}"/>
                  </a:ext>
                </a:extLst>
              </p:cNvPr>
              <p:cNvSpPr/>
              <p:nvPr/>
            </p:nvSpPr>
            <p:spPr>
              <a:xfrm rot="10800000">
                <a:off x="4679025" y="2740293"/>
                <a:ext cx="383992" cy="366383"/>
              </a:xfrm>
              <a:prstGeom prst="trapezoid">
                <a:avLst/>
              </a:prstGeom>
              <a:solidFill>
                <a:srgbClr val="5F2C09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80" name="Oval 279">
                <a:extLst>
                  <a:ext uri="{FF2B5EF4-FFF2-40B4-BE49-F238E27FC236}">
                    <a16:creationId xmlns="" xmlns:a16="http://schemas.microsoft.com/office/drawing/2014/main" id="{9D8233CB-BA21-408C-95B1-87A2C5FD6D45}"/>
                  </a:ext>
                </a:extLst>
              </p:cNvPr>
              <p:cNvSpPr/>
              <p:nvPr/>
            </p:nvSpPr>
            <p:spPr>
              <a:xfrm>
                <a:off x="4110814" y="2825337"/>
                <a:ext cx="156333" cy="16185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140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281" name="Oval 280">
                <a:extLst>
                  <a:ext uri="{FF2B5EF4-FFF2-40B4-BE49-F238E27FC236}">
                    <a16:creationId xmlns="" xmlns:a16="http://schemas.microsoft.com/office/drawing/2014/main" id="{D0EE04F9-6B35-4A0F-AF73-6C0E25583669}"/>
                  </a:ext>
                </a:extLst>
              </p:cNvPr>
              <p:cNvSpPr/>
              <p:nvPr/>
            </p:nvSpPr>
            <p:spPr>
              <a:xfrm>
                <a:off x="4790184" y="2816229"/>
                <a:ext cx="156333" cy="161859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1400">
                  <a:solidFill>
                    <a:schemeClr val="accent4"/>
                  </a:solidFill>
                </a:endParaRPr>
              </a:p>
            </p:txBody>
          </p:sp>
        </p:grpSp>
        <p:grpSp>
          <p:nvGrpSpPr>
            <p:cNvPr id="249" name="Group 248">
              <a:extLst>
                <a:ext uri="{FF2B5EF4-FFF2-40B4-BE49-F238E27FC236}">
                  <a16:creationId xmlns="" xmlns:a16="http://schemas.microsoft.com/office/drawing/2014/main" id="{A79C40C6-F811-44B7-8E71-0C6AAD29BE45}"/>
                </a:ext>
              </a:extLst>
            </p:cNvPr>
            <p:cNvGrpSpPr/>
            <p:nvPr/>
          </p:nvGrpSpPr>
          <p:grpSpPr>
            <a:xfrm>
              <a:off x="4282437" y="2803919"/>
              <a:ext cx="302243" cy="384026"/>
              <a:chOff x="3081337" y="504825"/>
              <a:chExt cx="404813" cy="514350"/>
            </a:xfrm>
          </p:grpSpPr>
          <p:cxnSp>
            <p:nvCxnSpPr>
              <p:cNvPr id="275" name="Straight Arrow Connector 274">
                <a:extLst>
                  <a:ext uri="{FF2B5EF4-FFF2-40B4-BE49-F238E27FC236}">
                    <a16:creationId xmlns="" xmlns:a16="http://schemas.microsoft.com/office/drawing/2014/main" id="{D85E1620-8F42-4804-8958-AE212F245792}"/>
                  </a:ext>
                </a:extLst>
              </p:cNvPr>
              <p:cNvCxnSpPr/>
              <p:nvPr/>
            </p:nvCxnSpPr>
            <p:spPr>
              <a:xfrm>
                <a:off x="3305175" y="685800"/>
                <a:ext cx="0" cy="333375"/>
              </a:xfrm>
              <a:prstGeom prst="straightConnector1">
                <a:avLst/>
              </a:prstGeom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76" name="Teardrop 275">
                <a:extLst>
                  <a:ext uri="{FF2B5EF4-FFF2-40B4-BE49-F238E27FC236}">
                    <a16:creationId xmlns="" xmlns:a16="http://schemas.microsoft.com/office/drawing/2014/main" id="{921D026C-887A-40D3-9FB5-CC7B6E6EF440}"/>
                  </a:ext>
                </a:extLst>
              </p:cNvPr>
              <p:cNvSpPr/>
              <p:nvPr/>
            </p:nvSpPr>
            <p:spPr>
              <a:xfrm>
                <a:off x="3295650" y="504825"/>
                <a:ext cx="190500" cy="238125"/>
              </a:xfrm>
              <a:prstGeom prst="teardrop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77" name="Teardrop 276">
                <a:extLst>
                  <a:ext uri="{FF2B5EF4-FFF2-40B4-BE49-F238E27FC236}">
                    <a16:creationId xmlns="" xmlns:a16="http://schemas.microsoft.com/office/drawing/2014/main" id="{2E069308-E83E-4B5E-9980-54BE304F1FF7}"/>
                  </a:ext>
                </a:extLst>
              </p:cNvPr>
              <p:cNvSpPr/>
              <p:nvPr/>
            </p:nvSpPr>
            <p:spPr>
              <a:xfrm rot="17580000">
                <a:off x="3105150" y="523874"/>
                <a:ext cx="190500" cy="238125"/>
              </a:xfrm>
              <a:prstGeom prst="teardrop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50" name="Group 249">
              <a:extLst>
                <a:ext uri="{FF2B5EF4-FFF2-40B4-BE49-F238E27FC236}">
                  <a16:creationId xmlns="" xmlns:a16="http://schemas.microsoft.com/office/drawing/2014/main" id="{6DE3FDEE-169B-4995-A35C-A5B4D86497D3}"/>
                </a:ext>
              </a:extLst>
            </p:cNvPr>
            <p:cNvGrpSpPr/>
            <p:nvPr/>
          </p:nvGrpSpPr>
          <p:grpSpPr>
            <a:xfrm>
              <a:off x="3589215" y="2813551"/>
              <a:ext cx="302243" cy="384026"/>
              <a:chOff x="3081337" y="504825"/>
              <a:chExt cx="404813" cy="514350"/>
            </a:xfrm>
          </p:grpSpPr>
          <p:cxnSp>
            <p:nvCxnSpPr>
              <p:cNvPr id="272" name="Straight Arrow Connector 271">
                <a:extLst>
                  <a:ext uri="{FF2B5EF4-FFF2-40B4-BE49-F238E27FC236}">
                    <a16:creationId xmlns="" xmlns:a16="http://schemas.microsoft.com/office/drawing/2014/main" id="{7D92029D-7647-425B-A39B-72B6A15AB596}"/>
                  </a:ext>
                </a:extLst>
              </p:cNvPr>
              <p:cNvCxnSpPr/>
              <p:nvPr/>
            </p:nvCxnSpPr>
            <p:spPr>
              <a:xfrm>
                <a:off x="3305175" y="685800"/>
                <a:ext cx="0" cy="333375"/>
              </a:xfrm>
              <a:prstGeom prst="straightConnector1">
                <a:avLst/>
              </a:prstGeom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73" name="Teardrop 272">
                <a:extLst>
                  <a:ext uri="{FF2B5EF4-FFF2-40B4-BE49-F238E27FC236}">
                    <a16:creationId xmlns="" xmlns:a16="http://schemas.microsoft.com/office/drawing/2014/main" id="{AAD1FC1C-E3C7-49FE-8473-4007368664D3}"/>
                  </a:ext>
                </a:extLst>
              </p:cNvPr>
              <p:cNvSpPr/>
              <p:nvPr/>
            </p:nvSpPr>
            <p:spPr>
              <a:xfrm>
                <a:off x="3295650" y="504825"/>
                <a:ext cx="190500" cy="238125"/>
              </a:xfrm>
              <a:prstGeom prst="teardrop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74" name="Teardrop 273">
                <a:extLst>
                  <a:ext uri="{FF2B5EF4-FFF2-40B4-BE49-F238E27FC236}">
                    <a16:creationId xmlns="" xmlns:a16="http://schemas.microsoft.com/office/drawing/2014/main" id="{95033B80-B6A2-49A2-AF19-91E656B25A6D}"/>
                  </a:ext>
                </a:extLst>
              </p:cNvPr>
              <p:cNvSpPr/>
              <p:nvPr/>
            </p:nvSpPr>
            <p:spPr>
              <a:xfrm rot="17580000">
                <a:off x="3105150" y="523874"/>
                <a:ext cx="190500" cy="238125"/>
              </a:xfrm>
              <a:prstGeom prst="teardrop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251" name="Group 250">
              <a:extLst>
                <a:ext uri="{FF2B5EF4-FFF2-40B4-BE49-F238E27FC236}">
                  <a16:creationId xmlns="" xmlns:a16="http://schemas.microsoft.com/office/drawing/2014/main" id="{69941FBE-B823-4B98-BEB9-4E02AD97D72B}"/>
                </a:ext>
              </a:extLst>
            </p:cNvPr>
            <p:cNvGrpSpPr/>
            <p:nvPr/>
          </p:nvGrpSpPr>
          <p:grpSpPr>
            <a:xfrm>
              <a:off x="4899017" y="1837083"/>
              <a:ext cx="383992" cy="635483"/>
              <a:chOff x="7380063" y="2139797"/>
              <a:chExt cx="383992" cy="635483"/>
            </a:xfrm>
          </p:grpSpPr>
          <p:sp>
            <p:nvSpPr>
              <p:cNvPr id="266" name="Trapezoid 265">
                <a:extLst>
                  <a:ext uri="{FF2B5EF4-FFF2-40B4-BE49-F238E27FC236}">
                    <a16:creationId xmlns="" xmlns:a16="http://schemas.microsoft.com/office/drawing/2014/main" id="{F7B7E4F3-5DF5-4DEB-A74D-DB24B74D745B}"/>
                  </a:ext>
                </a:extLst>
              </p:cNvPr>
              <p:cNvSpPr/>
              <p:nvPr/>
            </p:nvSpPr>
            <p:spPr>
              <a:xfrm rot="10800000">
                <a:off x="7380063" y="2408897"/>
                <a:ext cx="383992" cy="366383"/>
              </a:xfrm>
              <a:prstGeom prst="trapezoid">
                <a:avLst/>
              </a:prstGeom>
              <a:solidFill>
                <a:srgbClr val="5F2C09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="" xmlns:a16="http://schemas.microsoft.com/office/drawing/2014/main" id="{5465B35B-3046-488E-BEE0-EAB635E82222}"/>
                  </a:ext>
                </a:extLst>
              </p:cNvPr>
              <p:cNvSpPr/>
              <p:nvPr/>
            </p:nvSpPr>
            <p:spPr>
              <a:xfrm>
                <a:off x="7491222" y="2484833"/>
                <a:ext cx="156333" cy="161859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1400">
                  <a:solidFill>
                    <a:schemeClr val="accent4"/>
                  </a:solidFill>
                </a:endParaRPr>
              </a:p>
            </p:txBody>
          </p:sp>
          <p:grpSp>
            <p:nvGrpSpPr>
              <p:cNvPr id="268" name="Group 267">
                <a:extLst>
                  <a:ext uri="{FF2B5EF4-FFF2-40B4-BE49-F238E27FC236}">
                    <a16:creationId xmlns="" xmlns:a16="http://schemas.microsoft.com/office/drawing/2014/main" id="{67AF307E-C638-48D7-90BF-1EC5D53B2579}"/>
                  </a:ext>
                </a:extLst>
              </p:cNvPr>
              <p:cNvGrpSpPr/>
              <p:nvPr/>
            </p:nvGrpSpPr>
            <p:grpSpPr>
              <a:xfrm>
                <a:off x="7414528" y="2139797"/>
                <a:ext cx="302243" cy="384026"/>
                <a:chOff x="3081337" y="504825"/>
                <a:chExt cx="404813" cy="514350"/>
              </a:xfrm>
            </p:grpSpPr>
            <p:cxnSp>
              <p:nvCxnSpPr>
                <p:cNvPr id="269" name="Straight Arrow Connector 268">
                  <a:extLst>
                    <a:ext uri="{FF2B5EF4-FFF2-40B4-BE49-F238E27FC236}">
                      <a16:creationId xmlns="" xmlns:a16="http://schemas.microsoft.com/office/drawing/2014/main" id="{6F6DAD4C-4037-43A4-9596-A1F58C284979}"/>
                    </a:ext>
                  </a:extLst>
                </p:cNvPr>
                <p:cNvCxnSpPr/>
                <p:nvPr/>
              </p:nvCxnSpPr>
              <p:spPr>
                <a:xfrm>
                  <a:off x="3305175" y="685800"/>
                  <a:ext cx="0" cy="333375"/>
                </a:xfrm>
                <a:prstGeom prst="straightConnector1">
                  <a:avLst/>
                </a:prstGeom>
                <a:ln w="28575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270" name="Teardrop 269">
                  <a:extLst>
                    <a:ext uri="{FF2B5EF4-FFF2-40B4-BE49-F238E27FC236}">
                      <a16:creationId xmlns="" xmlns:a16="http://schemas.microsoft.com/office/drawing/2014/main" id="{535A9E8D-BC92-4A0C-84E7-52DAF8D3AA9E}"/>
                    </a:ext>
                  </a:extLst>
                </p:cNvPr>
                <p:cNvSpPr/>
                <p:nvPr/>
              </p:nvSpPr>
              <p:spPr>
                <a:xfrm>
                  <a:off x="3295650" y="504825"/>
                  <a:ext cx="190500" cy="238125"/>
                </a:xfrm>
                <a:prstGeom prst="teardrop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271" name="Teardrop 270">
                  <a:extLst>
                    <a:ext uri="{FF2B5EF4-FFF2-40B4-BE49-F238E27FC236}">
                      <a16:creationId xmlns="" xmlns:a16="http://schemas.microsoft.com/office/drawing/2014/main" id="{E844FE5B-DD94-49F1-97D5-73D2CB2EEB98}"/>
                    </a:ext>
                  </a:extLst>
                </p:cNvPr>
                <p:cNvSpPr/>
                <p:nvPr/>
              </p:nvSpPr>
              <p:spPr>
                <a:xfrm rot="17580000">
                  <a:off x="3105150" y="523873"/>
                  <a:ext cx="190500" cy="238125"/>
                </a:xfrm>
                <a:prstGeom prst="teardrop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</p:grpSp>
        <p:grpSp>
          <p:nvGrpSpPr>
            <p:cNvPr id="252" name="Group 251">
              <a:extLst>
                <a:ext uri="{FF2B5EF4-FFF2-40B4-BE49-F238E27FC236}">
                  <a16:creationId xmlns="" xmlns:a16="http://schemas.microsoft.com/office/drawing/2014/main" id="{73C92DBD-2597-4B37-95A7-AFE70D423B76}"/>
                </a:ext>
              </a:extLst>
            </p:cNvPr>
            <p:cNvGrpSpPr/>
            <p:nvPr/>
          </p:nvGrpSpPr>
          <p:grpSpPr>
            <a:xfrm>
              <a:off x="4939997" y="2846950"/>
              <a:ext cx="383992" cy="635483"/>
              <a:chOff x="7380063" y="2139797"/>
              <a:chExt cx="383992" cy="635483"/>
            </a:xfrm>
          </p:grpSpPr>
          <p:sp>
            <p:nvSpPr>
              <p:cNvPr id="260" name="Trapezoid 259">
                <a:extLst>
                  <a:ext uri="{FF2B5EF4-FFF2-40B4-BE49-F238E27FC236}">
                    <a16:creationId xmlns="" xmlns:a16="http://schemas.microsoft.com/office/drawing/2014/main" id="{BDBD2FFB-67AB-4D7E-A99F-90B69644CC3D}"/>
                  </a:ext>
                </a:extLst>
              </p:cNvPr>
              <p:cNvSpPr/>
              <p:nvPr/>
            </p:nvSpPr>
            <p:spPr>
              <a:xfrm rot="10800000">
                <a:off x="7380063" y="2408897"/>
                <a:ext cx="383992" cy="366383"/>
              </a:xfrm>
              <a:prstGeom prst="trapezoid">
                <a:avLst/>
              </a:prstGeom>
              <a:solidFill>
                <a:srgbClr val="5F2C09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="" xmlns:a16="http://schemas.microsoft.com/office/drawing/2014/main" id="{A3307691-A759-4390-ADEE-5C62F45FF6C2}"/>
                  </a:ext>
                </a:extLst>
              </p:cNvPr>
              <p:cNvSpPr/>
              <p:nvPr/>
            </p:nvSpPr>
            <p:spPr>
              <a:xfrm>
                <a:off x="7491222" y="2484833"/>
                <a:ext cx="156333" cy="161859"/>
              </a:xfrm>
              <a:prstGeom prst="ellipse">
                <a:avLst/>
              </a:prstGeom>
              <a:solidFill>
                <a:srgbClr val="5F2C09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sz="1400">
                  <a:solidFill>
                    <a:schemeClr val="accent4"/>
                  </a:solidFill>
                </a:endParaRPr>
              </a:p>
            </p:txBody>
          </p:sp>
          <p:grpSp>
            <p:nvGrpSpPr>
              <p:cNvPr id="262" name="Group 261">
                <a:extLst>
                  <a:ext uri="{FF2B5EF4-FFF2-40B4-BE49-F238E27FC236}">
                    <a16:creationId xmlns="" xmlns:a16="http://schemas.microsoft.com/office/drawing/2014/main" id="{F4316ED8-5B45-42E2-9F55-037221539E24}"/>
                  </a:ext>
                </a:extLst>
              </p:cNvPr>
              <p:cNvGrpSpPr/>
              <p:nvPr/>
            </p:nvGrpSpPr>
            <p:grpSpPr>
              <a:xfrm>
                <a:off x="7414528" y="2139797"/>
                <a:ext cx="302243" cy="384026"/>
                <a:chOff x="3081337" y="504825"/>
                <a:chExt cx="404813" cy="514350"/>
              </a:xfrm>
            </p:grpSpPr>
            <p:cxnSp>
              <p:nvCxnSpPr>
                <p:cNvPr id="263" name="Straight Arrow Connector 262">
                  <a:extLst>
                    <a:ext uri="{FF2B5EF4-FFF2-40B4-BE49-F238E27FC236}">
                      <a16:creationId xmlns="" xmlns:a16="http://schemas.microsoft.com/office/drawing/2014/main" id="{3178C3E9-4128-4E06-91E1-27AF76F9C5B2}"/>
                    </a:ext>
                  </a:extLst>
                </p:cNvPr>
                <p:cNvCxnSpPr/>
                <p:nvPr/>
              </p:nvCxnSpPr>
              <p:spPr>
                <a:xfrm>
                  <a:off x="3305175" y="685800"/>
                  <a:ext cx="0" cy="333375"/>
                </a:xfrm>
                <a:prstGeom prst="straightConnector1">
                  <a:avLst/>
                </a:prstGeom>
                <a:ln w="28575"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264" name="Teardrop 263">
                  <a:extLst>
                    <a:ext uri="{FF2B5EF4-FFF2-40B4-BE49-F238E27FC236}">
                      <a16:creationId xmlns="" xmlns:a16="http://schemas.microsoft.com/office/drawing/2014/main" id="{8C6290BE-17DE-47A8-B236-014E39D0032E}"/>
                    </a:ext>
                  </a:extLst>
                </p:cNvPr>
                <p:cNvSpPr/>
                <p:nvPr/>
              </p:nvSpPr>
              <p:spPr>
                <a:xfrm>
                  <a:off x="3295650" y="504825"/>
                  <a:ext cx="190500" cy="238125"/>
                </a:xfrm>
                <a:prstGeom prst="teardrop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  <p:sp>
              <p:nvSpPr>
                <p:cNvPr id="265" name="Teardrop 264">
                  <a:extLst>
                    <a:ext uri="{FF2B5EF4-FFF2-40B4-BE49-F238E27FC236}">
                      <a16:creationId xmlns="" xmlns:a16="http://schemas.microsoft.com/office/drawing/2014/main" id="{006B46BF-1249-4293-837C-3338EFA39425}"/>
                    </a:ext>
                  </a:extLst>
                </p:cNvPr>
                <p:cNvSpPr/>
                <p:nvPr/>
              </p:nvSpPr>
              <p:spPr>
                <a:xfrm rot="17580000">
                  <a:off x="3105150" y="523874"/>
                  <a:ext cx="190500" cy="238125"/>
                </a:xfrm>
                <a:prstGeom prst="teardrop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solidFill>
                    <a:schemeClr val="accent3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/>
                </a:p>
              </p:txBody>
            </p:sp>
          </p:grpSp>
        </p:grpSp>
        <p:sp>
          <p:nvSpPr>
            <p:cNvPr id="253" name="TextBox 252">
              <a:extLst>
                <a:ext uri="{FF2B5EF4-FFF2-40B4-BE49-F238E27FC236}">
                  <a16:creationId xmlns="" xmlns:a16="http://schemas.microsoft.com/office/drawing/2014/main" id="{4B572725-94EC-4DAC-800A-30954858B500}"/>
                </a:ext>
              </a:extLst>
            </p:cNvPr>
            <p:cNvSpPr txBox="1"/>
            <p:nvPr/>
          </p:nvSpPr>
          <p:spPr>
            <a:xfrm>
              <a:off x="3500507" y="2480654"/>
              <a:ext cx="4700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/>
                <a:t>Sp. 1</a:t>
              </a:r>
              <a:endParaRPr lang="en-US" sz="1050" b="1" i="1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="" xmlns:a16="http://schemas.microsoft.com/office/drawing/2014/main" id="{CE8D4602-86C4-410E-9D65-8A2405CCFC8F}"/>
                </a:ext>
              </a:extLst>
            </p:cNvPr>
            <p:cNvSpPr txBox="1"/>
            <p:nvPr/>
          </p:nvSpPr>
          <p:spPr>
            <a:xfrm>
              <a:off x="4185506" y="2480653"/>
              <a:ext cx="4700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/>
                <a:t>Sp. 2</a:t>
              </a:r>
              <a:endParaRPr lang="en-US" sz="1050" b="1" i="1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="" xmlns:a16="http://schemas.microsoft.com/office/drawing/2014/main" id="{C8EAEF46-00D1-4672-B7D6-D32842325D7F}"/>
                </a:ext>
              </a:extLst>
            </p:cNvPr>
            <p:cNvSpPr txBox="1"/>
            <p:nvPr/>
          </p:nvSpPr>
          <p:spPr>
            <a:xfrm>
              <a:off x="4870505" y="2492351"/>
              <a:ext cx="4700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/>
                <a:t>Sp. 3</a:t>
              </a:r>
              <a:endParaRPr lang="en-US" sz="1050" b="1" i="1"/>
            </a:p>
          </p:txBody>
        </p:sp>
        <p:sp>
          <p:nvSpPr>
            <p:cNvPr id="256" name="TextBox 255">
              <a:extLst>
                <a:ext uri="{FF2B5EF4-FFF2-40B4-BE49-F238E27FC236}">
                  <a16:creationId xmlns="" xmlns:a16="http://schemas.microsoft.com/office/drawing/2014/main" id="{6505D48E-858C-4C04-A77E-3F8B20A5C374}"/>
                </a:ext>
              </a:extLst>
            </p:cNvPr>
            <p:cNvSpPr txBox="1"/>
            <p:nvPr/>
          </p:nvSpPr>
          <p:spPr>
            <a:xfrm>
              <a:off x="3539901" y="3473214"/>
              <a:ext cx="4700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/>
                <a:t>Sp. 4</a:t>
              </a:r>
              <a:endParaRPr lang="en-US" sz="1050" b="1" i="1"/>
            </a:p>
          </p:txBody>
        </p:sp>
        <p:sp>
          <p:nvSpPr>
            <p:cNvPr id="257" name="TextBox 256">
              <a:extLst>
                <a:ext uri="{FF2B5EF4-FFF2-40B4-BE49-F238E27FC236}">
                  <a16:creationId xmlns="" xmlns:a16="http://schemas.microsoft.com/office/drawing/2014/main" id="{B9391117-1E02-4A32-9461-7B5CF78FED81}"/>
                </a:ext>
              </a:extLst>
            </p:cNvPr>
            <p:cNvSpPr txBox="1"/>
            <p:nvPr/>
          </p:nvSpPr>
          <p:spPr>
            <a:xfrm>
              <a:off x="4212335" y="3482433"/>
              <a:ext cx="47000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/>
                <a:t>Sp. 5</a:t>
              </a:r>
              <a:endParaRPr lang="en-US" sz="1050" b="1" i="1"/>
            </a:p>
          </p:txBody>
        </p:sp>
        <p:sp>
          <p:nvSpPr>
            <p:cNvPr id="258" name="TextBox 257">
              <a:extLst>
                <a:ext uri="{FF2B5EF4-FFF2-40B4-BE49-F238E27FC236}">
                  <a16:creationId xmlns="" xmlns:a16="http://schemas.microsoft.com/office/drawing/2014/main" id="{22D86527-26C0-4AC4-8EAC-E334872F5195}"/>
                </a:ext>
              </a:extLst>
            </p:cNvPr>
            <p:cNvSpPr txBox="1"/>
            <p:nvPr/>
          </p:nvSpPr>
          <p:spPr>
            <a:xfrm>
              <a:off x="4870829" y="3482433"/>
              <a:ext cx="5421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Sp. 33</a:t>
              </a:r>
              <a:endParaRPr lang="en-US" sz="1050" b="1" i="1" dirty="0"/>
            </a:p>
          </p:txBody>
        </p:sp>
        <p:sp>
          <p:nvSpPr>
            <p:cNvPr id="259" name="TextBox 258">
              <a:extLst>
                <a:ext uri="{FF2B5EF4-FFF2-40B4-BE49-F238E27FC236}">
                  <a16:creationId xmlns="" xmlns:a16="http://schemas.microsoft.com/office/drawing/2014/main" id="{7CC21C94-D968-44DF-AF1A-41CFA4A4BB81}"/>
                </a:ext>
              </a:extLst>
            </p:cNvPr>
            <p:cNvSpPr txBox="1"/>
            <p:nvPr/>
          </p:nvSpPr>
          <p:spPr>
            <a:xfrm>
              <a:off x="4607495" y="3243616"/>
              <a:ext cx="3866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/>
                <a:t>(...)</a:t>
              </a:r>
              <a:endParaRPr lang="en-US" sz="1050" b="1" i="1"/>
            </a:p>
          </p:txBody>
        </p:sp>
      </p:grpSp>
      <p:cxnSp>
        <p:nvCxnSpPr>
          <p:cNvPr id="295" name="Straight Arrow Connector 294">
            <a:extLst>
              <a:ext uri="{FF2B5EF4-FFF2-40B4-BE49-F238E27FC236}">
                <a16:creationId xmlns="" xmlns:a16="http://schemas.microsoft.com/office/drawing/2014/main" id="{34A8A81F-CDF0-4480-8346-1DCE2B107DBE}"/>
              </a:ext>
            </a:extLst>
          </p:cNvPr>
          <p:cNvCxnSpPr/>
          <p:nvPr/>
        </p:nvCxnSpPr>
        <p:spPr>
          <a:xfrm>
            <a:off x="4382532" y="2187871"/>
            <a:ext cx="3319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TextBox 295">
            <a:extLst>
              <a:ext uri="{FF2B5EF4-FFF2-40B4-BE49-F238E27FC236}">
                <a16:creationId xmlns="" xmlns:a16="http://schemas.microsoft.com/office/drawing/2014/main" id="{341812AE-EF47-4751-AC25-DFC411904AE1}"/>
              </a:ext>
            </a:extLst>
          </p:cNvPr>
          <p:cNvSpPr txBox="1"/>
          <p:nvPr/>
        </p:nvSpPr>
        <p:spPr>
          <a:xfrm>
            <a:off x="4673737" y="666750"/>
            <a:ext cx="25636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/>
              <a:t>Per species, Induction of stress by dipping</a:t>
            </a:r>
            <a:endParaRPr lang="nl-NL" sz="1100" b="1"/>
          </a:p>
        </p:txBody>
      </p:sp>
      <p:grpSp>
        <p:nvGrpSpPr>
          <p:cNvPr id="297" name="Group 296">
            <a:extLst>
              <a:ext uri="{FF2B5EF4-FFF2-40B4-BE49-F238E27FC236}">
                <a16:creationId xmlns="" xmlns:a16="http://schemas.microsoft.com/office/drawing/2014/main" id="{DDBB36A4-121A-4F42-9DDC-BE39CC2253E8}"/>
              </a:ext>
            </a:extLst>
          </p:cNvPr>
          <p:cNvGrpSpPr/>
          <p:nvPr/>
        </p:nvGrpSpPr>
        <p:grpSpPr>
          <a:xfrm rot="10800000">
            <a:off x="6505805" y="1455737"/>
            <a:ext cx="383992" cy="635483"/>
            <a:chOff x="7380063" y="2139797"/>
            <a:chExt cx="383992" cy="635483"/>
          </a:xfrm>
        </p:grpSpPr>
        <p:sp>
          <p:nvSpPr>
            <p:cNvPr id="298" name="Trapezoid 297">
              <a:extLst>
                <a:ext uri="{FF2B5EF4-FFF2-40B4-BE49-F238E27FC236}">
                  <a16:creationId xmlns="" xmlns:a16="http://schemas.microsoft.com/office/drawing/2014/main" id="{5F02B710-53D8-4DC4-99B6-C4D1DFB7CE75}"/>
                </a:ext>
              </a:extLst>
            </p:cNvPr>
            <p:cNvSpPr/>
            <p:nvPr/>
          </p:nvSpPr>
          <p:spPr>
            <a:xfrm rot="10800000">
              <a:off x="7380063" y="2408897"/>
              <a:ext cx="383992" cy="366383"/>
            </a:xfrm>
            <a:prstGeom prst="trapezoid">
              <a:avLst/>
            </a:prstGeom>
            <a:solidFill>
              <a:srgbClr val="5F2C09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299" name="Group 298">
              <a:extLst>
                <a:ext uri="{FF2B5EF4-FFF2-40B4-BE49-F238E27FC236}">
                  <a16:creationId xmlns="" xmlns:a16="http://schemas.microsoft.com/office/drawing/2014/main" id="{2DB34B66-597E-4EBA-9ED5-A241B9B80E82}"/>
                </a:ext>
              </a:extLst>
            </p:cNvPr>
            <p:cNvGrpSpPr/>
            <p:nvPr/>
          </p:nvGrpSpPr>
          <p:grpSpPr>
            <a:xfrm>
              <a:off x="7414528" y="2139797"/>
              <a:ext cx="302243" cy="384026"/>
              <a:chOff x="3081337" y="504825"/>
              <a:chExt cx="404813" cy="514350"/>
            </a:xfrm>
          </p:grpSpPr>
          <p:cxnSp>
            <p:nvCxnSpPr>
              <p:cNvPr id="300" name="Straight Arrow Connector 299">
                <a:extLst>
                  <a:ext uri="{FF2B5EF4-FFF2-40B4-BE49-F238E27FC236}">
                    <a16:creationId xmlns="" xmlns:a16="http://schemas.microsoft.com/office/drawing/2014/main" id="{DA623DB2-8D87-4B54-ADD5-4B4B946323AF}"/>
                  </a:ext>
                </a:extLst>
              </p:cNvPr>
              <p:cNvCxnSpPr/>
              <p:nvPr/>
            </p:nvCxnSpPr>
            <p:spPr>
              <a:xfrm>
                <a:off x="3305175" y="685800"/>
                <a:ext cx="0" cy="333375"/>
              </a:xfrm>
              <a:prstGeom prst="straightConnector1">
                <a:avLst/>
              </a:prstGeom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301" name="Teardrop 300">
                <a:extLst>
                  <a:ext uri="{FF2B5EF4-FFF2-40B4-BE49-F238E27FC236}">
                    <a16:creationId xmlns="" xmlns:a16="http://schemas.microsoft.com/office/drawing/2014/main" id="{04E7B1BE-F5BF-4193-8E59-EFC8FDC8BC1A}"/>
                  </a:ext>
                </a:extLst>
              </p:cNvPr>
              <p:cNvSpPr/>
              <p:nvPr/>
            </p:nvSpPr>
            <p:spPr>
              <a:xfrm>
                <a:off x="3295650" y="504825"/>
                <a:ext cx="190500" cy="238125"/>
              </a:xfrm>
              <a:prstGeom prst="teardrop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02" name="Teardrop 301">
                <a:extLst>
                  <a:ext uri="{FF2B5EF4-FFF2-40B4-BE49-F238E27FC236}">
                    <a16:creationId xmlns="" xmlns:a16="http://schemas.microsoft.com/office/drawing/2014/main" id="{212A29DF-9EEC-4FE7-B3F0-7850F160C296}"/>
                  </a:ext>
                </a:extLst>
              </p:cNvPr>
              <p:cNvSpPr/>
              <p:nvPr/>
            </p:nvSpPr>
            <p:spPr>
              <a:xfrm rot="17580000">
                <a:off x="3105150" y="523874"/>
                <a:ext cx="190500" cy="238125"/>
              </a:xfrm>
              <a:prstGeom prst="teardrop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sp>
        <p:nvSpPr>
          <p:cNvPr id="303" name="Rectangle 302">
            <a:extLst>
              <a:ext uri="{FF2B5EF4-FFF2-40B4-BE49-F238E27FC236}">
                <a16:creationId xmlns="" xmlns:a16="http://schemas.microsoft.com/office/drawing/2014/main" id="{BEB18BBC-F768-47E9-BE52-A3B8CBDA34D7}"/>
              </a:ext>
            </a:extLst>
          </p:cNvPr>
          <p:cNvSpPr/>
          <p:nvPr/>
        </p:nvSpPr>
        <p:spPr>
          <a:xfrm rot="10800000">
            <a:off x="6496271" y="1868673"/>
            <a:ext cx="423599" cy="525351"/>
          </a:xfrm>
          <a:prstGeom prst="rect">
            <a:avLst/>
          </a:prstGeom>
          <a:solidFill>
            <a:schemeClr val="bg1">
              <a:lumMod val="75000"/>
              <a:alpha val="16863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304" name="Group 303">
            <a:extLst>
              <a:ext uri="{FF2B5EF4-FFF2-40B4-BE49-F238E27FC236}">
                <a16:creationId xmlns="" xmlns:a16="http://schemas.microsoft.com/office/drawing/2014/main" id="{DD5D5430-1758-42E4-9BDE-FEC78CDFB671}"/>
              </a:ext>
            </a:extLst>
          </p:cNvPr>
          <p:cNvGrpSpPr/>
          <p:nvPr/>
        </p:nvGrpSpPr>
        <p:grpSpPr>
          <a:xfrm rot="10800000">
            <a:off x="5156808" y="1431306"/>
            <a:ext cx="383992" cy="635483"/>
            <a:chOff x="7380063" y="2139797"/>
            <a:chExt cx="383992" cy="635483"/>
          </a:xfrm>
        </p:grpSpPr>
        <p:sp>
          <p:nvSpPr>
            <p:cNvPr id="305" name="Trapezoid 304">
              <a:extLst>
                <a:ext uri="{FF2B5EF4-FFF2-40B4-BE49-F238E27FC236}">
                  <a16:creationId xmlns="" xmlns:a16="http://schemas.microsoft.com/office/drawing/2014/main" id="{FD5DEA02-3F01-4F37-9883-234EAB96767D}"/>
                </a:ext>
              </a:extLst>
            </p:cNvPr>
            <p:cNvSpPr/>
            <p:nvPr/>
          </p:nvSpPr>
          <p:spPr>
            <a:xfrm rot="10800000">
              <a:off x="7380063" y="2408897"/>
              <a:ext cx="383992" cy="366383"/>
            </a:xfrm>
            <a:prstGeom prst="trapezoid">
              <a:avLst/>
            </a:prstGeom>
            <a:solidFill>
              <a:srgbClr val="5F2C09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306" name="Group 305">
              <a:extLst>
                <a:ext uri="{FF2B5EF4-FFF2-40B4-BE49-F238E27FC236}">
                  <a16:creationId xmlns="" xmlns:a16="http://schemas.microsoft.com/office/drawing/2014/main" id="{314C88E8-EEB5-4655-81ED-CA329F98B59D}"/>
                </a:ext>
              </a:extLst>
            </p:cNvPr>
            <p:cNvGrpSpPr/>
            <p:nvPr/>
          </p:nvGrpSpPr>
          <p:grpSpPr>
            <a:xfrm>
              <a:off x="7414528" y="2139797"/>
              <a:ext cx="302243" cy="384026"/>
              <a:chOff x="3081337" y="504825"/>
              <a:chExt cx="404813" cy="514350"/>
            </a:xfrm>
          </p:grpSpPr>
          <p:cxnSp>
            <p:nvCxnSpPr>
              <p:cNvPr id="307" name="Straight Arrow Connector 306">
                <a:extLst>
                  <a:ext uri="{FF2B5EF4-FFF2-40B4-BE49-F238E27FC236}">
                    <a16:creationId xmlns="" xmlns:a16="http://schemas.microsoft.com/office/drawing/2014/main" id="{0458E482-0D69-447A-8132-0233586100E9}"/>
                  </a:ext>
                </a:extLst>
              </p:cNvPr>
              <p:cNvCxnSpPr/>
              <p:nvPr/>
            </p:nvCxnSpPr>
            <p:spPr>
              <a:xfrm>
                <a:off x="3305175" y="685800"/>
                <a:ext cx="0" cy="333375"/>
              </a:xfrm>
              <a:prstGeom prst="straightConnector1">
                <a:avLst/>
              </a:prstGeom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308" name="Teardrop 307">
                <a:extLst>
                  <a:ext uri="{FF2B5EF4-FFF2-40B4-BE49-F238E27FC236}">
                    <a16:creationId xmlns="" xmlns:a16="http://schemas.microsoft.com/office/drawing/2014/main" id="{FA1F1DD2-E65D-4539-AD37-D386B16B9CBD}"/>
                  </a:ext>
                </a:extLst>
              </p:cNvPr>
              <p:cNvSpPr/>
              <p:nvPr/>
            </p:nvSpPr>
            <p:spPr>
              <a:xfrm>
                <a:off x="3295650" y="504825"/>
                <a:ext cx="190500" cy="238125"/>
              </a:xfrm>
              <a:prstGeom prst="teardrop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09" name="Teardrop 308">
                <a:extLst>
                  <a:ext uri="{FF2B5EF4-FFF2-40B4-BE49-F238E27FC236}">
                    <a16:creationId xmlns="" xmlns:a16="http://schemas.microsoft.com/office/drawing/2014/main" id="{AE8BF045-1AF3-427D-B912-AE1182E54546}"/>
                  </a:ext>
                </a:extLst>
              </p:cNvPr>
              <p:cNvSpPr/>
              <p:nvPr/>
            </p:nvSpPr>
            <p:spPr>
              <a:xfrm rot="17580000">
                <a:off x="3105150" y="523874"/>
                <a:ext cx="190500" cy="238125"/>
              </a:xfrm>
              <a:prstGeom prst="teardrop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sp>
        <p:nvSpPr>
          <p:cNvPr id="310" name="Rectangle 309">
            <a:extLst>
              <a:ext uri="{FF2B5EF4-FFF2-40B4-BE49-F238E27FC236}">
                <a16:creationId xmlns="" xmlns:a16="http://schemas.microsoft.com/office/drawing/2014/main" id="{DA0C1F5C-21D7-45AB-A352-A0EBDC538C81}"/>
              </a:ext>
            </a:extLst>
          </p:cNvPr>
          <p:cNvSpPr/>
          <p:nvPr/>
        </p:nvSpPr>
        <p:spPr>
          <a:xfrm rot="10800000">
            <a:off x="5147274" y="1844242"/>
            <a:ext cx="423599" cy="525351"/>
          </a:xfrm>
          <a:prstGeom prst="rect">
            <a:avLst/>
          </a:prstGeom>
          <a:solidFill>
            <a:schemeClr val="accent6">
              <a:lumMod val="75000"/>
              <a:alpha val="16863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311" name="Group 310">
            <a:extLst>
              <a:ext uri="{FF2B5EF4-FFF2-40B4-BE49-F238E27FC236}">
                <a16:creationId xmlns="" xmlns:a16="http://schemas.microsoft.com/office/drawing/2014/main" id="{A683F6B0-7CA8-498B-AEA3-25761089BF22}"/>
              </a:ext>
            </a:extLst>
          </p:cNvPr>
          <p:cNvGrpSpPr/>
          <p:nvPr/>
        </p:nvGrpSpPr>
        <p:grpSpPr>
          <a:xfrm rot="10800000">
            <a:off x="5788608" y="1453775"/>
            <a:ext cx="383992" cy="635483"/>
            <a:chOff x="7380063" y="2139797"/>
            <a:chExt cx="383992" cy="635483"/>
          </a:xfrm>
        </p:grpSpPr>
        <p:sp>
          <p:nvSpPr>
            <p:cNvPr id="312" name="Trapezoid 311">
              <a:extLst>
                <a:ext uri="{FF2B5EF4-FFF2-40B4-BE49-F238E27FC236}">
                  <a16:creationId xmlns="" xmlns:a16="http://schemas.microsoft.com/office/drawing/2014/main" id="{BC3C094A-51DA-426E-9492-62B924A13BBD}"/>
                </a:ext>
              </a:extLst>
            </p:cNvPr>
            <p:cNvSpPr/>
            <p:nvPr/>
          </p:nvSpPr>
          <p:spPr>
            <a:xfrm rot="10800000">
              <a:off x="7380063" y="2408897"/>
              <a:ext cx="383992" cy="366383"/>
            </a:xfrm>
            <a:prstGeom prst="trapezoid">
              <a:avLst/>
            </a:prstGeom>
            <a:solidFill>
              <a:srgbClr val="5F2C09">
                <a:alpha val="50196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grpSp>
          <p:nvGrpSpPr>
            <p:cNvPr id="313" name="Group 312">
              <a:extLst>
                <a:ext uri="{FF2B5EF4-FFF2-40B4-BE49-F238E27FC236}">
                  <a16:creationId xmlns="" xmlns:a16="http://schemas.microsoft.com/office/drawing/2014/main" id="{D2B1829A-4D6E-482F-9024-34070DB32175}"/>
                </a:ext>
              </a:extLst>
            </p:cNvPr>
            <p:cNvGrpSpPr/>
            <p:nvPr/>
          </p:nvGrpSpPr>
          <p:grpSpPr>
            <a:xfrm>
              <a:off x="7414528" y="2139797"/>
              <a:ext cx="302243" cy="384026"/>
              <a:chOff x="3081337" y="504825"/>
              <a:chExt cx="404813" cy="514350"/>
            </a:xfrm>
          </p:grpSpPr>
          <p:cxnSp>
            <p:nvCxnSpPr>
              <p:cNvPr id="314" name="Straight Arrow Connector 313">
                <a:extLst>
                  <a:ext uri="{FF2B5EF4-FFF2-40B4-BE49-F238E27FC236}">
                    <a16:creationId xmlns="" xmlns:a16="http://schemas.microsoft.com/office/drawing/2014/main" id="{BA4C08D5-F9EC-40C7-9A31-7F0F2B29E314}"/>
                  </a:ext>
                </a:extLst>
              </p:cNvPr>
              <p:cNvCxnSpPr/>
              <p:nvPr/>
            </p:nvCxnSpPr>
            <p:spPr>
              <a:xfrm>
                <a:off x="3305175" y="685800"/>
                <a:ext cx="0" cy="333375"/>
              </a:xfrm>
              <a:prstGeom prst="straightConnector1">
                <a:avLst/>
              </a:prstGeom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315" name="Teardrop 314">
                <a:extLst>
                  <a:ext uri="{FF2B5EF4-FFF2-40B4-BE49-F238E27FC236}">
                    <a16:creationId xmlns="" xmlns:a16="http://schemas.microsoft.com/office/drawing/2014/main" id="{BE5ED3A3-2B4E-43B8-B4F8-075677E981AE}"/>
                  </a:ext>
                </a:extLst>
              </p:cNvPr>
              <p:cNvSpPr/>
              <p:nvPr/>
            </p:nvSpPr>
            <p:spPr>
              <a:xfrm>
                <a:off x="3295650" y="504825"/>
                <a:ext cx="190500" cy="238125"/>
              </a:xfrm>
              <a:prstGeom prst="teardrop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16" name="Teardrop 315">
                <a:extLst>
                  <a:ext uri="{FF2B5EF4-FFF2-40B4-BE49-F238E27FC236}">
                    <a16:creationId xmlns="" xmlns:a16="http://schemas.microsoft.com/office/drawing/2014/main" id="{274FB606-8D8B-430F-B374-60C7D38B56EB}"/>
                  </a:ext>
                </a:extLst>
              </p:cNvPr>
              <p:cNvSpPr/>
              <p:nvPr/>
            </p:nvSpPr>
            <p:spPr>
              <a:xfrm rot="17580000">
                <a:off x="3105150" y="523874"/>
                <a:ext cx="190500" cy="238125"/>
              </a:xfrm>
              <a:prstGeom prst="teardrop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</p:grpSp>
      <p:sp>
        <p:nvSpPr>
          <p:cNvPr id="317" name="Rectangle 316">
            <a:extLst>
              <a:ext uri="{FF2B5EF4-FFF2-40B4-BE49-F238E27FC236}">
                <a16:creationId xmlns="" xmlns:a16="http://schemas.microsoft.com/office/drawing/2014/main" id="{04B43AAC-CC03-4890-9A29-1BCB890B70F7}"/>
              </a:ext>
            </a:extLst>
          </p:cNvPr>
          <p:cNvSpPr/>
          <p:nvPr/>
        </p:nvSpPr>
        <p:spPr>
          <a:xfrm rot="10800000">
            <a:off x="5779074" y="1866711"/>
            <a:ext cx="423599" cy="525351"/>
          </a:xfrm>
          <a:prstGeom prst="rect">
            <a:avLst/>
          </a:prstGeom>
          <a:solidFill>
            <a:schemeClr val="accent3">
              <a:lumMod val="75000"/>
              <a:alpha val="16863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18" name="TextBox 317">
            <a:extLst>
              <a:ext uri="{FF2B5EF4-FFF2-40B4-BE49-F238E27FC236}">
                <a16:creationId xmlns="" xmlns:a16="http://schemas.microsoft.com/office/drawing/2014/main" id="{7DA3F1BA-2B4B-4EEE-AB24-DA0B77ED5258}"/>
              </a:ext>
            </a:extLst>
          </p:cNvPr>
          <p:cNvSpPr txBox="1"/>
          <p:nvPr/>
        </p:nvSpPr>
        <p:spPr>
          <a:xfrm>
            <a:off x="6340188" y="2461271"/>
            <a:ext cx="6511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/>
              <a:t>Water</a:t>
            </a:r>
            <a:br>
              <a:rPr lang="en-US" sz="1050" b="1" dirty="0"/>
            </a:br>
            <a:r>
              <a:rPr lang="en-US" sz="1050" b="1" dirty="0"/>
              <a:t>+ </a:t>
            </a:r>
            <a:r>
              <a:rPr lang="en-US" sz="1050" b="1" dirty="0" err="1"/>
              <a:t>Silwet</a:t>
            </a:r>
            <a:endParaRPr lang="en-US" sz="1050" b="1" i="1" dirty="0"/>
          </a:p>
        </p:txBody>
      </p:sp>
      <p:sp>
        <p:nvSpPr>
          <p:cNvPr id="319" name="TextBox 318">
            <a:extLst>
              <a:ext uri="{FF2B5EF4-FFF2-40B4-BE49-F238E27FC236}">
                <a16:creationId xmlns="" xmlns:a16="http://schemas.microsoft.com/office/drawing/2014/main" id="{8923EFFC-1AE2-4A7F-A37C-1715314504B9}"/>
              </a:ext>
            </a:extLst>
          </p:cNvPr>
          <p:cNvSpPr txBox="1"/>
          <p:nvPr/>
        </p:nvSpPr>
        <p:spPr>
          <a:xfrm>
            <a:off x="5049405" y="2441212"/>
            <a:ext cx="6190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 err="1">
                <a:solidFill>
                  <a:schemeClr val="accent6">
                    <a:lumMod val="75000"/>
                  </a:schemeClr>
                </a:solidFill>
              </a:rPr>
              <a:t>MeJA</a:t>
            </a:r>
            <a:endParaRPr lang="en-US" sz="105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1050" b="1" dirty="0"/>
              <a:t>+</a:t>
            </a:r>
            <a:r>
              <a:rPr lang="en-US" sz="1050" b="1" dirty="0" err="1"/>
              <a:t>Silwet</a:t>
            </a:r>
            <a:endParaRPr lang="en-US" sz="1050" b="1" dirty="0"/>
          </a:p>
        </p:txBody>
      </p:sp>
      <p:sp>
        <p:nvSpPr>
          <p:cNvPr id="320" name="TextBox 319">
            <a:extLst>
              <a:ext uri="{FF2B5EF4-FFF2-40B4-BE49-F238E27FC236}">
                <a16:creationId xmlns="" xmlns:a16="http://schemas.microsoft.com/office/drawing/2014/main" id="{56C6D324-D2EA-40D2-8C41-CB756FF03566}"/>
              </a:ext>
            </a:extLst>
          </p:cNvPr>
          <p:cNvSpPr txBox="1"/>
          <p:nvPr/>
        </p:nvSpPr>
        <p:spPr>
          <a:xfrm>
            <a:off x="5688339" y="2438532"/>
            <a:ext cx="6190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 dirty="0">
                <a:solidFill>
                  <a:srgbClr val="92D050"/>
                </a:solidFill>
              </a:rPr>
              <a:t>SA</a:t>
            </a:r>
          </a:p>
          <a:p>
            <a:pPr algn="ctr"/>
            <a:r>
              <a:rPr lang="en-US" sz="1050" b="1" dirty="0"/>
              <a:t>+</a:t>
            </a:r>
            <a:r>
              <a:rPr lang="en-US" sz="1050" b="1" dirty="0" err="1"/>
              <a:t>Silwet</a:t>
            </a:r>
            <a:endParaRPr lang="en-US" sz="1050" b="1" dirty="0"/>
          </a:p>
        </p:txBody>
      </p:sp>
      <p:sp>
        <p:nvSpPr>
          <p:cNvPr id="321" name="TextBox 320">
            <a:extLst>
              <a:ext uri="{FF2B5EF4-FFF2-40B4-BE49-F238E27FC236}">
                <a16:creationId xmlns="" xmlns:a16="http://schemas.microsoft.com/office/drawing/2014/main" id="{2A8B8FBD-61B9-4AB6-BB2A-3EE2EACF4395}"/>
              </a:ext>
            </a:extLst>
          </p:cNvPr>
          <p:cNvSpPr txBox="1"/>
          <p:nvPr/>
        </p:nvSpPr>
        <p:spPr>
          <a:xfrm>
            <a:off x="5206773" y="3045203"/>
            <a:ext cx="15520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b="1"/>
              <a:t>4 dippings, every 4 days </a:t>
            </a:r>
          </a:p>
        </p:txBody>
      </p:sp>
      <p:cxnSp>
        <p:nvCxnSpPr>
          <p:cNvPr id="322" name="Straight Connector 321">
            <a:extLst>
              <a:ext uri="{FF2B5EF4-FFF2-40B4-BE49-F238E27FC236}">
                <a16:creationId xmlns="" xmlns:a16="http://schemas.microsoft.com/office/drawing/2014/main" id="{FB4667B9-C3F1-471F-87F4-4687D5508CCC}"/>
              </a:ext>
            </a:extLst>
          </p:cNvPr>
          <p:cNvCxnSpPr>
            <a:cxnSpLocks/>
          </p:cNvCxnSpPr>
          <p:nvPr/>
        </p:nvCxnSpPr>
        <p:spPr>
          <a:xfrm flipH="1">
            <a:off x="5149749" y="3554680"/>
            <a:ext cx="310637" cy="388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="" xmlns:a16="http://schemas.microsoft.com/office/drawing/2014/main" id="{1D50E470-3FBB-444A-AA5D-69A5E55DD301}"/>
              </a:ext>
            </a:extLst>
          </p:cNvPr>
          <p:cNvCxnSpPr>
            <a:cxnSpLocks/>
          </p:cNvCxnSpPr>
          <p:nvPr/>
        </p:nvCxnSpPr>
        <p:spPr>
          <a:xfrm flipH="1">
            <a:off x="5674423" y="3594948"/>
            <a:ext cx="310637" cy="388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="" xmlns:a16="http://schemas.microsoft.com/office/drawing/2014/main" id="{7F8B688C-076A-4346-A78C-D860D881A989}"/>
              </a:ext>
            </a:extLst>
          </p:cNvPr>
          <p:cNvCxnSpPr>
            <a:cxnSpLocks/>
          </p:cNvCxnSpPr>
          <p:nvPr/>
        </p:nvCxnSpPr>
        <p:spPr>
          <a:xfrm flipH="1">
            <a:off x="6265900" y="3601603"/>
            <a:ext cx="310637" cy="388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="" xmlns:a16="http://schemas.microsoft.com/office/drawing/2014/main" id="{BBB35345-5D8B-41A7-92DC-68D45CD1F18E}"/>
              </a:ext>
            </a:extLst>
          </p:cNvPr>
          <p:cNvCxnSpPr>
            <a:cxnSpLocks/>
          </p:cNvCxnSpPr>
          <p:nvPr/>
        </p:nvCxnSpPr>
        <p:spPr>
          <a:xfrm flipH="1">
            <a:off x="6857377" y="3601603"/>
            <a:ext cx="310637" cy="3883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="" xmlns:a16="http://schemas.microsoft.com/office/drawing/2014/main" id="{C12834E3-0238-490E-BA1A-6AF34E32F280}"/>
              </a:ext>
            </a:extLst>
          </p:cNvPr>
          <p:cNvCxnSpPr>
            <a:cxnSpLocks/>
          </p:cNvCxnSpPr>
          <p:nvPr/>
        </p:nvCxnSpPr>
        <p:spPr>
          <a:xfrm>
            <a:off x="434611" y="3779994"/>
            <a:ext cx="8482949" cy="1576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Box 326"/>
          <p:cNvSpPr txBox="1"/>
          <p:nvPr/>
        </p:nvSpPr>
        <p:spPr>
          <a:xfrm>
            <a:off x="2251962" y="4054554"/>
            <a:ext cx="2148117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050" dirty="0" smtClean="0"/>
              <a:t>26Brassicaceae </a:t>
            </a:r>
            <a:endParaRPr lang="en-US" sz="105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050" dirty="0" smtClean="0"/>
              <a:t>2 </a:t>
            </a:r>
            <a:r>
              <a:rPr lang="en-US" sz="1050" dirty="0" err="1" smtClean="0"/>
              <a:t>Gramineae</a:t>
            </a:r>
            <a:r>
              <a:rPr lang="en-US" sz="1050" dirty="0" smtClean="0"/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050" dirty="0" smtClean="0"/>
              <a:t>2 </a:t>
            </a:r>
            <a:r>
              <a:rPr lang="en-US" sz="1050" dirty="0" err="1" smtClean="0"/>
              <a:t>Fabaceae</a:t>
            </a:r>
            <a:endParaRPr lang="en-US" sz="105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050" dirty="0" smtClean="0"/>
              <a:t>2 </a:t>
            </a:r>
            <a:r>
              <a:rPr lang="en-US" sz="1050" dirty="0" err="1"/>
              <a:t>Solanaceae</a:t>
            </a:r>
            <a:r>
              <a:rPr lang="en-US" sz="1050" dirty="0"/>
              <a:t> </a:t>
            </a:r>
            <a:endParaRPr lang="en-US" sz="105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050" dirty="0" smtClean="0"/>
              <a:t>1 </a:t>
            </a:r>
            <a:r>
              <a:rPr lang="en-US" sz="1050" dirty="0" err="1"/>
              <a:t>Cucurbitaceae</a:t>
            </a:r>
            <a:r>
              <a:rPr lang="en-US" sz="1050" dirty="0"/>
              <a:t> </a:t>
            </a:r>
            <a:endParaRPr lang="en-US" sz="105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050" dirty="0" smtClean="0"/>
              <a:t>1 bulk soil control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050" dirty="0" smtClean="0"/>
          </a:p>
        </p:txBody>
      </p:sp>
      <p:sp>
        <p:nvSpPr>
          <p:cNvPr id="328" name="Rectangle 327"/>
          <p:cNvSpPr/>
          <p:nvPr/>
        </p:nvSpPr>
        <p:spPr>
          <a:xfrm>
            <a:off x="4505893" y="4324350"/>
            <a:ext cx="474032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100" dirty="0"/>
              <a:t>Methyl </a:t>
            </a:r>
            <a:r>
              <a:rPr lang="en-US" sz="1100" dirty="0" err="1"/>
              <a:t>Jasmonate</a:t>
            </a:r>
            <a:r>
              <a:rPr lang="en-US" sz="1100" dirty="0"/>
              <a:t> (</a:t>
            </a:r>
            <a:r>
              <a:rPr lang="en-US" sz="1100" dirty="0" err="1"/>
              <a:t>MeJA</a:t>
            </a:r>
            <a:r>
              <a:rPr lang="en-US" sz="1100" dirty="0"/>
              <a:t>) – mimics insect attack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100" dirty="0" err="1"/>
              <a:t>Salicilic</a:t>
            </a:r>
            <a:r>
              <a:rPr lang="en-US" sz="1100" dirty="0"/>
              <a:t> acid (SA) - mimics pathogen attack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100" dirty="0"/>
              <a:t>Control – water, </a:t>
            </a:r>
            <a:r>
              <a:rPr lang="en-US" sz="1100" dirty="0" err="1"/>
              <a:t>silwet</a:t>
            </a:r>
            <a:r>
              <a:rPr lang="en-US" sz="1100" dirty="0"/>
              <a:t> (surfactant) and ethanol</a:t>
            </a:r>
          </a:p>
        </p:txBody>
      </p:sp>
      <p:grpSp>
        <p:nvGrpSpPr>
          <p:cNvPr id="329" name="Group 328"/>
          <p:cNvGrpSpPr/>
          <p:nvPr/>
        </p:nvGrpSpPr>
        <p:grpSpPr>
          <a:xfrm>
            <a:off x="7855941" y="2462922"/>
            <a:ext cx="224343" cy="525083"/>
            <a:chOff x="8146822" y="3454400"/>
            <a:chExt cx="319707" cy="590970"/>
          </a:xfrm>
        </p:grpSpPr>
        <p:sp>
          <p:nvSpPr>
            <p:cNvPr id="330" name="Freeform 329"/>
            <p:cNvSpPr/>
            <p:nvPr/>
          </p:nvSpPr>
          <p:spPr>
            <a:xfrm>
              <a:off x="8146822" y="3454400"/>
              <a:ext cx="190728" cy="419100"/>
            </a:xfrm>
            <a:custGeom>
              <a:avLst/>
              <a:gdLst>
                <a:gd name="connsiteX0" fmla="*/ 190728 w 190728"/>
                <a:gd name="connsiteY0" fmla="*/ 0 h 419100"/>
                <a:gd name="connsiteX1" fmla="*/ 146278 w 190728"/>
                <a:gd name="connsiteY1" fmla="*/ 6350 h 419100"/>
                <a:gd name="connsiteX2" fmla="*/ 133578 w 190728"/>
                <a:gd name="connsiteY2" fmla="*/ 44450 h 419100"/>
                <a:gd name="connsiteX3" fmla="*/ 120878 w 190728"/>
                <a:gd name="connsiteY3" fmla="*/ 63500 h 419100"/>
                <a:gd name="connsiteX4" fmla="*/ 152628 w 190728"/>
                <a:gd name="connsiteY4" fmla="*/ 101600 h 419100"/>
                <a:gd name="connsiteX5" fmla="*/ 165328 w 190728"/>
                <a:gd name="connsiteY5" fmla="*/ 120650 h 419100"/>
                <a:gd name="connsiteX6" fmla="*/ 120878 w 190728"/>
                <a:gd name="connsiteY6" fmla="*/ 171450 h 419100"/>
                <a:gd name="connsiteX7" fmla="*/ 101828 w 190728"/>
                <a:gd name="connsiteY7" fmla="*/ 184150 h 419100"/>
                <a:gd name="connsiteX8" fmla="*/ 82778 w 190728"/>
                <a:gd name="connsiteY8" fmla="*/ 196850 h 419100"/>
                <a:gd name="connsiteX9" fmla="*/ 89128 w 190728"/>
                <a:gd name="connsiteY9" fmla="*/ 266700 h 419100"/>
                <a:gd name="connsiteX10" fmla="*/ 108178 w 190728"/>
                <a:gd name="connsiteY10" fmla="*/ 285750 h 419100"/>
                <a:gd name="connsiteX11" fmla="*/ 101828 w 190728"/>
                <a:gd name="connsiteY11" fmla="*/ 381000 h 419100"/>
                <a:gd name="connsiteX12" fmla="*/ 76428 w 190728"/>
                <a:gd name="connsiteY12" fmla="*/ 387350 h 419100"/>
                <a:gd name="connsiteX13" fmla="*/ 51028 w 190728"/>
                <a:gd name="connsiteY13" fmla="*/ 400050 h 419100"/>
                <a:gd name="connsiteX14" fmla="*/ 228 w 190728"/>
                <a:gd name="connsiteY14" fmla="*/ 412750 h 419100"/>
                <a:gd name="connsiteX15" fmla="*/ 228 w 190728"/>
                <a:gd name="connsiteY15" fmla="*/ 41910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0728" h="419100">
                  <a:moveTo>
                    <a:pt x="190728" y="0"/>
                  </a:moveTo>
                  <a:cubicBezTo>
                    <a:pt x="175911" y="2117"/>
                    <a:pt x="158092" y="-2839"/>
                    <a:pt x="146278" y="6350"/>
                  </a:cubicBezTo>
                  <a:cubicBezTo>
                    <a:pt x="135711" y="14569"/>
                    <a:pt x="141004" y="33311"/>
                    <a:pt x="133578" y="44450"/>
                  </a:cubicBezTo>
                  <a:lnTo>
                    <a:pt x="120878" y="63500"/>
                  </a:lnTo>
                  <a:cubicBezTo>
                    <a:pt x="152410" y="110798"/>
                    <a:pt x="111884" y="52707"/>
                    <a:pt x="152628" y="101600"/>
                  </a:cubicBezTo>
                  <a:cubicBezTo>
                    <a:pt x="157514" y="107463"/>
                    <a:pt x="161095" y="114300"/>
                    <a:pt x="165328" y="120650"/>
                  </a:cubicBezTo>
                  <a:cubicBezTo>
                    <a:pt x="155276" y="160858"/>
                    <a:pt x="166240" y="141209"/>
                    <a:pt x="120878" y="171450"/>
                  </a:cubicBezTo>
                  <a:lnTo>
                    <a:pt x="101828" y="184150"/>
                  </a:lnTo>
                  <a:lnTo>
                    <a:pt x="82778" y="196850"/>
                  </a:lnTo>
                  <a:cubicBezTo>
                    <a:pt x="84895" y="220133"/>
                    <a:pt x="82705" y="244220"/>
                    <a:pt x="89128" y="266700"/>
                  </a:cubicBezTo>
                  <a:cubicBezTo>
                    <a:pt x="91595" y="275335"/>
                    <a:pt x="107186" y="276825"/>
                    <a:pt x="108178" y="285750"/>
                  </a:cubicBezTo>
                  <a:cubicBezTo>
                    <a:pt x="111692" y="317376"/>
                    <a:pt x="111319" y="350628"/>
                    <a:pt x="101828" y="381000"/>
                  </a:cubicBezTo>
                  <a:cubicBezTo>
                    <a:pt x="99225" y="389330"/>
                    <a:pt x="84600" y="384286"/>
                    <a:pt x="76428" y="387350"/>
                  </a:cubicBezTo>
                  <a:cubicBezTo>
                    <a:pt x="67565" y="390674"/>
                    <a:pt x="59495" y="395817"/>
                    <a:pt x="51028" y="400050"/>
                  </a:cubicBezTo>
                  <a:cubicBezTo>
                    <a:pt x="5934" y="393608"/>
                    <a:pt x="8636" y="379119"/>
                    <a:pt x="228" y="412750"/>
                  </a:cubicBezTo>
                  <a:cubicBezTo>
                    <a:pt x="-285" y="414803"/>
                    <a:pt x="228" y="416983"/>
                    <a:pt x="228" y="419100"/>
                  </a:cubicBezTo>
                </a:path>
              </a:pathLst>
            </a:cu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31" name="Freeform 330"/>
            <p:cNvSpPr/>
            <p:nvPr/>
          </p:nvSpPr>
          <p:spPr>
            <a:xfrm>
              <a:off x="8273120" y="3486150"/>
              <a:ext cx="102530" cy="559220"/>
            </a:xfrm>
            <a:custGeom>
              <a:avLst/>
              <a:gdLst>
                <a:gd name="connsiteX0" fmla="*/ 930 w 102530"/>
                <a:gd name="connsiteY0" fmla="*/ 0 h 559220"/>
                <a:gd name="connsiteX1" fmla="*/ 39030 w 102530"/>
                <a:gd name="connsiteY1" fmla="*/ 6350 h 559220"/>
                <a:gd name="connsiteX2" fmla="*/ 19980 w 102530"/>
                <a:gd name="connsiteY2" fmla="*/ 120650 h 559220"/>
                <a:gd name="connsiteX3" fmla="*/ 13630 w 102530"/>
                <a:gd name="connsiteY3" fmla="*/ 152400 h 559220"/>
                <a:gd name="connsiteX4" fmla="*/ 13630 w 102530"/>
                <a:gd name="connsiteY4" fmla="*/ 241300 h 559220"/>
                <a:gd name="connsiteX5" fmla="*/ 51730 w 102530"/>
                <a:gd name="connsiteY5" fmla="*/ 254000 h 559220"/>
                <a:gd name="connsiteX6" fmla="*/ 89830 w 102530"/>
                <a:gd name="connsiteY6" fmla="*/ 273050 h 559220"/>
                <a:gd name="connsiteX7" fmla="*/ 83480 w 102530"/>
                <a:gd name="connsiteY7" fmla="*/ 317500 h 559220"/>
                <a:gd name="connsiteX8" fmla="*/ 58080 w 102530"/>
                <a:gd name="connsiteY8" fmla="*/ 355600 h 559220"/>
                <a:gd name="connsiteX9" fmla="*/ 51730 w 102530"/>
                <a:gd name="connsiteY9" fmla="*/ 387350 h 559220"/>
                <a:gd name="connsiteX10" fmla="*/ 51730 w 102530"/>
                <a:gd name="connsiteY10" fmla="*/ 425450 h 559220"/>
                <a:gd name="connsiteX11" fmla="*/ 70780 w 102530"/>
                <a:gd name="connsiteY11" fmla="*/ 431800 h 559220"/>
                <a:gd name="connsiteX12" fmla="*/ 89830 w 102530"/>
                <a:gd name="connsiteY12" fmla="*/ 444500 h 559220"/>
                <a:gd name="connsiteX13" fmla="*/ 102530 w 102530"/>
                <a:gd name="connsiteY13" fmla="*/ 463550 h 559220"/>
                <a:gd name="connsiteX14" fmla="*/ 89830 w 102530"/>
                <a:gd name="connsiteY14" fmla="*/ 482600 h 559220"/>
                <a:gd name="connsiteX15" fmla="*/ 77130 w 102530"/>
                <a:gd name="connsiteY15" fmla="*/ 527050 h 559220"/>
                <a:gd name="connsiteX16" fmla="*/ 51730 w 102530"/>
                <a:gd name="connsiteY16" fmla="*/ 558800 h 559220"/>
                <a:gd name="connsiteX17" fmla="*/ 45380 w 102530"/>
                <a:gd name="connsiteY17" fmla="*/ 558800 h 559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2530" h="559220">
                  <a:moveTo>
                    <a:pt x="930" y="0"/>
                  </a:moveTo>
                  <a:lnTo>
                    <a:pt x="39030" y="6350"/>
                  </a:lnTo>
                  <a:cubicBezTo>
                    <a:pt x="55889" y="56926"/>
                    <a:pt x="38356" y="83897"/>
                    <a:pt x="19980" y="120650"/>
                  </a:cubicBezTo>
                  <a:cubicBezTo>
                    <a:pt x="17863" y="131233"/>
                    <a:pt x="16248" y="141929"/>
                    <a:pt x="13630" y="152400"/>
                  </a:cubicBezTo>
                  <a:cubicBezTo>
                    <a:pt x="5342" y="185552"/>
                    <a:pt x="-12380" y="192996"/>
                    <a:pt x="13630" y="241300"/>
                  </a:cubicBezTo>
                  <a:cubicBezTo>
                    <a:pt x="19977" y="253087"/>
                    <a:pt x="40591" y="246574"/>
                    <a:pt x="51730" y="254000"/>
                  </a:cubicBezTo>
                  <a:cubicBezTo>
                    <a:pt x="76349" y="270413"/>
                    <a:pt x="63540" y="264287"/>
                    <a:pt x="89830" y="273050"/>
                  </a:cubicBezTo>
                  <a:cubicBezTo>
                    <a:pt x="87713" y="287867"/>
                    <a:pt x="88853" y="303531"/>
                    <a:pt x="83480" y="317500"/>
                  </a:cubicBezTo>
                  <a:cubicBezTo>
                    <a:pt x="78001" y="331746"/>
                    <a:pt x="58080" y="355600"/>
                    <a:pt x="58080" y="355600"/>
                  </a:cubicBezTo>
                  <a:cubicBezTo>
                    <a:pt x="55963" y="366183"/>
                    <a:pt x="54348" y="376879"/>
                    <a:pt x="51730" y="387350"/>
                  </a:cubicBezTo>
                  <a:cubicBezTo>
                    <a:pt x="48343" y="400897"/>
                    <a:pt x="38183" y="411903"/>
                    <a:pt x="51730" y="425450"/>
                  </a:cubicBezTo>
                  <a:cubicBezTo>
                    <a:pt x="56463" y="430183"/>
                    <a:pt x="64793" y="428807"/>
                    <a:pt x="70780" y="431800"/>
                  </a:cubicBezTo>
                  <a:cubicBezTo>
                    <a:pt x="77606" y="435213"/>
                    <a:pt x="83480" y="440267"/>
                    <a:pt x="89830" y="444500"/>
                  </a:cubicBezTo>
                  <a:cubicBezTo>
                    <a:pt x="94063" y="450850"/>
                    <a:pt x="102530" y="455918"/>
                    <a:pt x="102530" y="463550"/>
                  </a:cubicBezTo>
                  <a:cubicBezTo>
                    <a:pt x="102530" y="471182"/>
                    <a:pt x="93243" y="475774"/>
                    <a:pt x="89830" y="482600"/>
                  </a:cubicBezTo>
                  <a:cubicBezTo>
                    <a:pt x="84755" y="492750"/>
                    <a:pt x="79843" y="517555"/>
                    <a:pt x="77130" y="527050"/>
                  </a:cubicBezTo>
                  <a:cubicBezTo>
                    <a:pt x="71027" y="548411"/>
                    <a:pt x="73316" y="548007"/>
                    <a:pt x="51730" y="558800"/>
                  </a:cubicBezTo>
                  <a:cubicBezTo>
                    <a:pt x="49837" y="559747"/>
                    <a:pt x="47497" y="558800"/>
                    <a:pt x="45380" y="558800"/>
                  </a:cubicBezTo>
                </a:path>
              </a:pathLst>
            </a:cu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32" name="Freeform 331"/>
            <p:cNvSpPr/>
            <p:nvPr/>
          </p:nvSpPr>
          <p:spPr>
            <a:xfrm>
              <a:off x="8311174" y="3454400"/>
              <a:ext cx="155355" cy="412750"/>
            </a:xfrm>
            <a:custGeom>
              <a:avLst/>
              <a:gdLst>
                <a:gd name="connsiteX0" fmla="*/ 13676 w 155355"/>
                <a:gd name="connsiteY0" fmla="*/ 0 h 412750"/>
                <a:gd name="connsiteX1" fmla="*/ 976 w 155355"/>
                <a:gd name="connsiteY1" fmla="*/ 31750 h 412750"/>
                <a:gd name="connsiteX2" fmla="*/ 64476 w 155355"/>
                <a:gd name="connsiteY2" fmla="*/ 63500 h 412750"/>
                <a:gd name="connsiteX3" fmla="*/ 70826 w 155355"/>
                <a:gd name="connsiteY3" fmla="*/ 82550 h 412750"/>
                <a:gd name="connsiteX4" fmla="*/ 58126 w 155355"/>
                <a:gd name="connsiteY4" fmla="*/ 127000 h 412750"/>
                <a:gd name="connsiteX5" fmla="*/ 121626 w 155355"/>
                <a:gd name="connsiteY5" fmla="*/ 146050 h 412750"/>
                <a:gd name="connsiteX6" fmla="*/ 115276 w 155355"/>
                <a:gd name="connsiteY6" fmla="*/ 196850 h 412750"/>
                <a:gd name="connsiteX7" fmla="*/ 83526 w 155355"/>
                <a:gd name="connsiteY7" fmla="*/ 203200 h 412750"/>
                <a:gd name="connsiteX8" fmla="*/ 89876 w 155355"/>
                <a:gd name="connsiteY8" fmla="*/ 222250 h 412750"/>
                <a:gd name="connsiteX9" fmla="*/ 134326 w 155355"/>
                <a:gd name="connsiteY9" fmla="*/ 241300 h 412750"/>
                <a:gd name="connsiteX10" fmla="*/ 140676 w 155355"/>
                <a:gd name="connsiteY10" fmla="*/ 330200 h 412750"/>
                <a:gd name="connsiteX11" fmla="*/ 102576 w 155355"/>
                <a:gd name="connsiteY11" fmla="*/ 342900 h 412750"/>
                <a:gd name="connsiteX12" fmla="*/ 89876 w 155355"/>
                <a:gd name="connsiteY12" fmla="*/ 361950 h 412750"/>
                <a:gd name="connsiteX13" fmla="*/ 96226 w 155355"/>
                <a:gd name="connsiteY13" fmla="*/ 381000 h 412750"/>
                <a:gd name="connsiteX14" fmla="*/ 121626 w 155355"/>
                <a:gd name="connsiteY14" fmla="*/ 412750 h 412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5355" h="412750">
                  <a:moveTo>
                    <a:pt x="13676" y="0"/>
                  </a:moveTo>
                  <a:cubicBezTo>
                    <a:pt x="9443" y="10583"/>
                    <a:pt x="-3653" y="21334"/>
                    <a:pt x="976" y="31750"/>
                  </a:cubicBezTo>
                  <a:cubicBezTo>
                    <a:pt x="10426" y="53013"/>
                    <a:pt x="44801" y="58581"/>
                    <a:pt x="64476" y="63500"/>
                  </a:cubicBezTo>
                  <a:cubicBezTo>
                    <a:pt x="66593" y="69850"/>
                    <a:pt x="70826" y="75857"/>
                    <a:pt x="70826" y="82550"/>
                  </a:cubicBezTo>
                  <a:cubicBezTo>
                    <a:pt x="70826" y="90523"/>
                    <a:pt x="61120" y="118017"/>
                    <a:pt x="58126" y="127000"/>
                  </a:cubicBezTo>
                  <a:cubicBezTo>
                    <a:pt x="104505" y="142460"/>
                    <a:pt x="83239" y="136453"/>
                    <a:pt x="121626" y="146050"/>
                  </a:cubicBezTo>
                  <a:cubicBezTo>
                    <a:pt x="119509" y="162983"/>
                    <a:pt x="124742" y="182651"/>
                    <a:pt x="115276" y="196850"/>
                  </a:cubicBezTo>
                  <a:cubicBezTo>
                    <a:pt x="109289" y="205830"/>
                    <a:pt x="91158" y="195568"/>
                    <a:pt x="83526" y="203200"/>
                  </a:cubicBezTo>
                  <a:cubicBezTo>
                    <a:pt x="78793" y="207933"/>
                    <a:pt x="85695" y="217023"/>
                    <a:pt x="89876" y="222250"/>
                  </a:cubicBezTo>
                  <a:cubicBezTo>
                    <a:pt x="100839" y="235954"/>
                    <a:pt x="119074" y="237487"/>
                    <a:pt x="134326" y="241300"/>
                  </a:cubicBezTo>
                  <a:cubicBezTo>
                    <a:pt x="153735" y="270414"/>
                    <a:pt x="166892" y="281513"/>
                    <a:pt x="140676" y="330200"/>
                  </a:cubicBezTo>
                  <a:cubicBezTo>
                    <a:pt x="134329" y="341987"/>
                    <a:pt x="102576" y="342900"/>
                    <a:pt x="102576" y="342900"/>
                  </a:cubicBezTo>
                  <a:cubicBezTo>
                    <a:pt x="98343" y="349250"/>
                    <a:pt x="91131" y="354422"/>
                    <a:pt x="89876" y="361950"/>
                  </a:cubicBezTo>
                  <a:cubicBezTo>
                    <a:pt x="88776" y="368552"/>
                    <a:pt x="93589" y="374848"/>
                    <a:pt x="96226" y="381000"/>
                  </a:cubicBezTo>
                  <a:cubicBezTo>
                    <a:pt x="108349" y="409286"/>
                    <a:pt x="101806" y="402840"/>
                    <a:pt x="121626" y="412750"/>
                  </a:cubicBezTo>
                </a:path>
              </a:pathLst>
            </a:cu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33" name="Freeform 332"/>
            <p:cNvSpPr/>
            <p:nvPr/>
          </p:nvSpPr>
          <p:spPr>
            <a:xfrm>
              <a:off x="8299450" y="3473450"/>
              <a:ext cx="88900" cy="241413"/>
            </a:xfrm>
            <a:custGeom>
              <a:avLst/>
              <a:gdLst>
                <a:gd name="connsiteX0" fmla="*/ 0 w 88900"/>
                <a:gd name="connsiteY0" fmla="*/ 0 h 241413"/>
                <a:gd name="connsiteX1" fmla="*/ 19050 w 88900"/>
                <a:gd name="connsiteY1" fmla="*/ 158750 h 241413"/>
                <a:gd name="connsiteX2" fmla="*/ 38100 w 88900"/>
                <a:gd name="connsiteY2" fmla="*/ 165100 h 241413"/>
                <a:gd name="connsiteX3" fmla="*/ 57150 w 88900"/>
                <a:gd name="connsiteY3" fmla="*/ 177800 h 241413"/>
                <a:gd name="connsiteX4" fmla="*/ 69850 w 88900"/>
                <a:gd name="connsiteY4" fmla="*/ 203200 h 241413"/>
                <a:gd name="connsiteX5" fmla="*/ 88900 w 88900"/>
                <a:gd name="connsiteY5" fmla="*/ 241300 h 241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900" h="241413">
                  <a:moveTo>
                    <a:pt x="0" y="0"/>
                  </a:moveTo>
                  <a:cubicBezTo>
                    <a:pt x="38422" y="96055"/>
                    <a:pt x="-24981" y="-72415"/>
                    <a:pt x="19050" y="158750"/>
                  </a:cubicBezTo>
                  <a:cubicBezTo>
                    <a:pt x="20302" y="165325"/>
                    <a:pt x="32113" y="162107"/>
                    <a:pt x="38100" y="165100"/>
                  </a:cubicBezTo>
                  <a:cubicBezTo>
                    <a:pt x="44926" y="168513"/>
                    <a:pt x="50800" y="173567"/>
                    <a:pt x="57150" y="177800"/>
                  </a:cubicBezTo>
                  <a:cubicBezTo>
                    <a:pt x="61383" y="186267"/>
                    <a:pt x="67130" y="194133"/>
                    <a:pt x="69850" y="203200"/>
                  </a:cubicBezTo>
                  <a:cubicBezTo>
                    <a:pt x="82533" y="245476"/>
                    <a:pt x="61471" y="241300"/>
                    <a:pt x="88900" y="241300"/>
                  </a:cubicBezTo>
                </a:path>
              </a:pathLst>
            </a:cu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334" name="Group 333"/>
          <p:cNvGrpSpPr/>
          <p:nvPr/>
        </p:nvGrpSpPr>
        <p:grpSpPr>
          <a:xfrm>
            <a:off x="8199273" y="2467756"/>
            <a:ext cx="143488" cy="446834"/>
            <a:chOff x="7989054" y="3418956"/>
            <a:chExt cx="143488" cy="446834"/>
          </a:xfrm>
        </p:grpSpPr>
        <p:sp>
          <p:nvSpPr>
            <p:cNvPr id="335" name="Pentagon 334"/>
            <p:cNvSpPr/>
            <p:nvPr/>
          </p:nvSpPr>
          <p:spPr>
            <a:xfrm rot="5400000">
              <a:off x="7880607" y="3641227"/>
              <a:ext cx="360383" cy="88744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336" name="Can 335"/>
            <p:cNvSpPr/>
            <p:nvPr/>
          </p:nvSpPr>
          <p:spPr>
            <a:xfrm>
              <a:off x="7989054" y="3418956"/>
              <a:ext cx="143488" cy="91586"/>
            </a:xfrm>
            <a:prstGeom prst="can">
              <a:avLst>
                <a:gd name="adj" fmla="val 45695"/>
              </a:avLst>
            </a:prstGeom>
            <a:solidFill>
              <a:srgbClr val="00B0F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337" name="TextBox 336"/>
          <p:cNvSpPr txBox="1"/>
          <p:nvPr/>
        </p:nvSpPr>
        <p:spPr>
          <a:xfrm>
            <a:off x="1113261" y="6106180"/>
            <a:ext cx="7199990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This is a significant slice of the core experiment</a:t>
            </a:r>
            <a:endParaRPr lang="en-US" sz="2800" dirty="0"/>
          </a:p>
        </p:txBody>
      </p:sp>
      <p:sp>
        <p:nvSpPr>
          <p:cNvPr id="338" name="Snip Diagonal Corner Rectangle 337"/>
          <p:cNvSpPr/>
          <p:nvPr/>
        </p:nvSpPr>
        <p:spPr>
          <a:xfrm>
            <a:off x="0" y="446534"/>
            <a:ext cx="3352800" cy="144016"/>
          </a:xfrm>
          <a:prstGeom prst="snip2DiagRect">
            <a:avLst>
              <a:gd name="adj1" fmla="val 50000"/>
              <a:gd name="adj2" fmla="val 33198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339" name="TextBox 338"/>
          <p:cNvSpPr txBox="1"/>
          <p:nvPr/>
        </p:nvSpPr>
        <p:spPr>
          <a:xfrm>
            <a:off x="10092" y="23283"/>
            <a:ext cx="42062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Brassicaceae</a:t>
            </a:r>
            <a:r>
              <a:rPr lang="en-US" sz="2400" b="1" dirty="0" smtClean="0"/>
              <a:t> family experiment</a:t>
            </a:r>
            <a:endParaRPr lang="en-US" sz="2400" b="1" dirty="0"/>
          </a:p>
        </p:txBody>
      </p:sp>
      <p:sp>
        <p:nvSpPr>
          <p:cNvPr id="340" name="TextBox 339"/>
          <p:cNvSpPr txBox="1"/>
          <p:nvPr/>
        </p:nvSpPr>
        <p:spPr>
          <a:xfrm>
            <a:off x="321914" y="4324350"/>
            <a:ext cx="1629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1632 pots</a:t>
            </a:r>
          </a:p>
          <a:p>
            <a:r>
              <a:rPr lang="en-US" dirty="0" smtClean="0"/>
              <a:t>102 treatments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275140" y="20419"/>
            <a:ext cx="2642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Plant </a:t>
            </a:r>
            <a:r>
              <a:rPr lang="en-US" sz="1200" dirty="0" err="1" smtClean="0"/>
              <a:t>Sp</a:t>
            </a:r>
            <a:r>
              <a:rPr lang="en-US" sz="1200" dirty="0" smtClean="0"/>
              <a:t> harvesting was binned on 3 different dates according plant speed of growth: Fast, Medium and Slow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4662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C:\Users\pedro\Downloads\P179143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3283"/>
            <a:ext cx="3959387" cy="2955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83398" y="3019842"/>
            <a:ext cx="22606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400" dirty="0" smtClean="0"/>
              <a:t>1632 pots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 smtClean="0"/>
              <a:t>33 </a:t>
            </a:r>
            <a:r>
              <a:rPr lang="en-US" sz="1400" dirty="0" smtClean="0"/>
              <a:t>plant species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 smtClean="0"/>
              <a:t>3 stress treatments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 smtClean="0"/>
              <a:t>16 rep/treatment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400" b="1" dirty="0" smtClean="0"/>
              <a:t>99 </a:t>
            </a:r>
            <a:r>
              <a:rPr lang="en-US" sz="1400" b="1" dirty="0" smtClean="0"/>
              <a:t>independent </a:t>
            </a:r>
            <a:r>
              <a:rPr lang="en-US" sz="1400" b="1" dirty="0" smtClean="0"/>
              <a:t>treatments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 smtClean="0"/>
              <a:t>+ 3 no-plant soil controls</a:t>
            </a:r>
            <a:endParaRPr lang="en-US" sz="1400" dirty="0"/>
          </a:p>
        </p:txBody>
      </p:sp>
      <p:pic>
        <p:nvPicPr>
          <p:cNvPr id="10" name="Picture 6" descr="https://lh3.googleusercontent.com/FNv-MzFoU6902MKRawNKpP9kAvFhxM9nCe-MIaFyHg5HQI6ESHnB--R8mympJZbrg7jomYhla3Iy6l1RjrexVbUWQGuLaXCVYUgVv1mlbP4nw81_VATwjKrAM6tBPIretFy5gt-SwGpCorP0TQHQcnMwKGYrOFdcWQprGM8si8aiaaeg6SZgXN4dX20m6HhX61AGHdBJquN-_whqctpTxXRINEvArPdv5sfZjTE52jzE0ZCKS0nOedoC2xGPzAw00kD_uKwpWaPz4U-R7wn3344f7mN8wQ1ouCE2bXxhhGKTTMk1RW_fnjMEz8Oz8hKU72vxkSW63MlHdjFVtB-ys095ihIOdz4Cg0WJl1o3qGdwc7NG1EkYpuXhpNZta07ahBcXu_fkDdoToTtDF89sE0der_HM7in7tlmSDr3CWqRSB0AL0rDzINvK_XSSIJuKE5RznxZPEUeCPl8ojSe3d0GQNvmErQKG_zlIcWMJk-AMyHqTVEkQwue7WHxLhwkGxi7L5ca52n-hR38UM6Ro7nG_Ub7_obZCowIA16ZcxmLWdkXJT1sr0hmUSXSnQpVxAI7OyWOXXMrMy4PNXQEAnF1RQmase3Vh41Mx7GyGApbml0Hg3qrjJhepOtOS_Z__gR7Oo2k1cwhgyTvV1tehtarDp540TlGH9Uka1BF2LtERgQOrlZHTHycjlz_KXliOgSNka_lxxEmLwCW3edGAS9Rh=w1171-h878-no?authuser=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666" y="-9498"/>
            <a:ext cx="6857965" cy="515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860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edro\Downloads\MicrosoftTeams-image (1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480482"/>
            <a:ext cx="9144002" cy="392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" y="440055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Figure 1: phylogeny of </a:t>
            </a:r>
            <a:r>
              <a:rPr lang="en-US" sz="1600" dirty="0" err="1" smtClean="0"/>
              <a:t>brassicaceae</a:t>
            </a:r>
            <a:r>
              <a:rPr lang="en-US" sz="1600" dirty="0" smtClean="0"/>
              <a:t> plant species (left) and 16S sequencing library sizes (right). Note that last 7 plant species  on the right plot are not part of the </a:t>
            </a:r>
            <a:r>
              <a:rPr lang="en-US" sz="1600" dirty="0" err="1" smtClean="0"/>
              <a:t>brassicaceae</a:t>
            </a:r>
            <a:r>
              <a:rPr lang="en-US" sz="1600" dirty="0" smtClean="0"/>
              <a:t> family and won’t be present in the tree</a:t>
            </a:r>
            <a:endParaRPr lang="en-US" sz="1600" dirty="0"/>
          </a:p>
        </p:txBody>
      </p:sp>
      <p:sp>
        <p:nvSpPr>
          <p:cNvPr id="6" name="Snip Diagonal Corner Rectangle 5"/>
          <p:cNvSpPr/>
          <p:nvPr/>
        </p:nvSpPr>
        <p:spPr>
          <a:xfrm>
            <a:off x="0" y="446534"/>
            <a:ext cx="3352800" cy="144016"/>
          </a:xfrm>
          <a:prstGeom prst="snip2DiagRect">
            <a:avLst>
              <a:gd name="adj1" fmla="val 50000"/>
              <a:gd name="adj2" fmla="val 33198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7" name="TextBox 6"/>
          <p:cNvSpPr txBox="1"/>
          <p:nvPr/>
        </p:nvSpPr>
        <p:spPr>
          <a:xfrm>
            <a:off x="10092" y="23283"/>
            <a:ext cx="71254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Example of microbiome X plant phylogeny </a:t>
            </a:r>
            <a:r>
              <a:rPr lang="en-US" sz="2400" b="1" dirty="0" err="1" smtClean="0"/>
              <a:t>comparions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52727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644426"/>
            <a:ext cx="8890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Our </a:t>
            </a:r>
            <a:r>
              <a:rPr lang="en-US" dirty="0"/>
              <a:t>main goal is to check if </a:t>
            </a:r>
            <a:r>
              <a:rPr lang="en-US" dirty="0" smtClean="0"/>
              <a:t>microbiome responses to Herbivore and </a:t>
            </a:r>
            <a:r>
              <a:rPr lang="en-US" dirty="0" err="1" smtClean="0"/>
              <a:t>phatogen</a:t>
            </a:r>
            <a:r>
              <a:rPr lang="en-US" dirty="0" smtClean="0"/>
              <a:t> stress are conserved across the </a:t>
            </a:r>
            <a:r>
              <a:rPr lang="en-US" dirty="0" err="1" smtClean="0"/>
              <a:t>brassicaceae</a:t>
            </a:r>
            <a:r>
              <a:rPr lang="en-US" dirty="0" smtClean="0"/>
              <a:t> phylogeny. For research questions examples:</a:t>
            </a:r>
          </a:p>
          <a:p>
            <a:endParaRPr lang="en-US" dirty="0"/>
          </a:p>
          <a:p>
            <a:r>
              <a:rPr lang="en-US" dirty="0" smtClean="0"/>
              <a:t>Are the microbial communities in </a:t>
            </a:r>
            <a:r>
              <a:rPr lang="en-US" dirty="0" err="1" smtClean="0"/>
              <a:t>brassicaceae</a:t>
            </a:r>
            <a:r>
              <a:rPr lang="en-US" dirty="0" smtClean="0"/>
              <a:t> species of the first clade as strongly affected by </a:t>
            </a:r>
            <a:r>
              <a:rPr lang="en-US" dirty="0" err="1" smtClean="0"/>
              <a:t>MeJA</a:t>
            </a:r>
            <a:r>
              <a:rPr lang="en-US" dirty="0" smtClean="0"/>
              <a:t> stresses as the </a:t>
            </a:r>
            <a:r>
              <a:rPr lang="en-US" dirty="0" err="1" smtClean="0"/>
              <a:t>brassicae</a:t>
            </a:r>
            <a:r>
              <a:rPr lang="en-US" dirty="0" smtClean="0"/>
              <a:t> plants in the second clade?</a:t>
            </a:r>
          </a:p>
          <a:p>
            <a:endParaRPr lang="en-US" dirty="0"/>
          </a:p>
          <a:p>
            <a:r>
              <a:rPr lang="en-US" dirty="0" smtClean="0"/>
              <a:t>Are the bacterial OTUs found as differentially abundant in the first </a:t>
            </a:r>
            <a:r>
              <a:rPr lang="en-US" dirty="0" err="1" smtClean="0"/>
              <a:t>brassicacea</a:t>
            </a:r>
            <a:r>
              <a:rPr lang="en-US" dirty="0" smtClean="0"/>
              <a:t> species clade from the same families and orders as the </a:t>
            </a:r>
            <a:r>
              <a:rPr lang="en-US" dirty="0" err="1" smtClean="0"/>
              <a:t>differentialy</a:t>
            </a:r>
            <a:r>
              <a:rPr lang="en-US" dirty="0" smtClean="0"/>
              <a:t> abundant OTUs from the second clade?</a:t>
            </a:r>
            <a:endParaRPr lang="en-US" dirty="0"/>
          </a:p>
        </p:txBody>
      </p:sp>
      <p:pic>
        <p:nvPicPr>
          <p:cNvPr id="5" name="Picture 2" descr="C:\Users\pedro\Downloads\MicrosoftTeams-image (1)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05150"/>
            <a:ext cx="4343400" cy="186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nip Diagonal Corner Rectangle 6"/>
          <p:cNvSpPr/>
          <p:nvPr/>
        </p:nvSpPr>
        <p:spPr>
          <a:xfrm>
            <a:off x="0" y="446534"/>
            <a:ext cx="3352800" cy="144016"/>
          </a:xfrm>
          <a:prstGeom prst="snip2DiagRect">
            <a:avLst>
              <a:gd name="adj1" fmla="val 50000"/>
              <a:gd name="adj2" fmla="val 33198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8" name="TextBox 7"/>
          <p:cNvSpPr txBox="1"/>
          <p:nvPr/>
        </p:nvSpPr>
        <p:spPr>
          <a:xfrm>
            <a:off x="10092" y="23283"/>
            <a:ext cx="27338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Main research goals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58262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092" y="742950"/>
            <a:ext cx="877111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Some of our major goals with OTU-OTU networks are:</a:t>
            </a:r>
          </a:p>
          <a:p>
            <a:endParaRPr lang="en-US" dirty="0"/>
          </a:p>
          <a:p>
            <a:r>
              <a:rPr lang="en-US" dirty="0" smtClean="0"/>
              <a:t>Detecting keystone species, module hubs, and module connectors</a:t>
            </a:r>
          </a:p>
          <a:p>
            <a:endParaRPr lang="en-US" dirty="0"/>
          </a:p>
          <a:p>
            <a:r>
              <a:rPr lang="en-US" dirty="0" smtClean="0"/>
              <a:t>Checking if network structure differs according the </a:t>
            </a:r>
            <a:r>
              <a:rPr lang="en-US" dirty="0" err="1" smtClean="0"/>
              <a:t>brassicace</a:t>
            </a:r>
            <a:r>
              <a:rPr lang="en-US" dirty="0" smtClean="0"/>
              <a:t> plant species and clades</a:t>
            </a:r>
          </a:p>
          <a:p>
            <a:endParaRPr lang="en-US" dirty="0"/>
          </a:p>
          <a:p>
            <a:r>
              <a:rPr lang="en-US" dirty="0" smtClean="0"/>
              <a:t>Detecting modules that may be strongly correlated to plant metadata and stress treatments</a:t>
            </a:r>
          </a:p>
          <a:p>
            <a:endParaRPr lang="en-US" dirty="0"/>
          </a:p>
          <a:p>
            <a:r>
              <a:rPr lang="en-US" dirty="0" smtClean="0"/>
              <a:t>Detecting a pattern for </a:t>
            </a:r>
            <a:r>
              <a:rPr lang="en-US" dirty="0" err="1" smtClean="0"/>
              <a:t>interkingdom</a:t>
            </a:r>
            <a:r>
              <a:rPr lang="en-US" dirty="0" smtClean="0"/>
              <a:t> connections between bacteria and fungi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nip Diagonal Corner Rectangle 5"/>
          <p:cNvSpPr/>
          <p:nvPr/>
        </p:nvSpPr>
        <p:spPr>
          <a:xfrm>
            <a:off x="0" y="446534"/>
            <a:ext cx="3352800" cy="144016"/>
          </a:xfrm>
          <a:prstGeom prst="snip2DiagRect">
            <a:avLst>
              <a:gd name="adj1" fmla="val 50000"/>
              <a:gd name="adj2" fmla="val 33198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7" name="TextBox 6"/>
          <p:cNvSpPr txBox="1"/>
          <p:nvPr/>
        </p:nvSpPr>
        <p:spPr>
          <a:xfrm>
            <a:off x="10092" y="23283"/>
            <a:ext cx="352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Role of a network analysis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66172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092" y="2671286"/>
            <a:ext cx="913390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Our initial approach could be:</a:t>
            </a:r>
          </a:p>
          <a:p>
            <a:endParaRPr lang="en-US" b="1" dirty="0" smtClean="0"/>
          </a:p>
          <a:p>
            <a:r>
              <a:rPr lang="en-US" dirty="0" smtClean="0"/>
              <a:t>Strongly Filter OTUs by only retaining Core Microbiome OTUs </a:t>
            </a:r>
          </a:p>
          <a:p>
            <a:r>
              <a:rPr lang="en-US" dirty="0"/>
              <a:t>	</a:t>
            </a:r>
            <a:r>
              <a:rPr lang="en-US" dirty="0" smtClean="0"/>
              <a:t>(expect a few hundred OTUs per plant species, a few thousand OTUs total)</a:t>
            </a:r>
          </a:p>
          <a:p>
            <a:endParaRPr lang="en-US" dirty="0"/>
          </a:p>
          <a:p>
            <a:r>
              <a:rPr lang="en-US" dirty="0" smtClean="0"/>
              <a:t>Construct one network per stress treatment (n =~ 416, 3 networks), checking the effect of stress on network structure</a:t>
            </a:r>
            <a:endParaRPr lang="en-US" dirty="0"/>
          </a:p>
        </p:txBody>
      </p:sp>
      <p:sp>
        <p:nvSpPr>
          <p:cNvPr id="5" name="Snip Diagonal Corner Rectangle 4"/>
          <p:cNvSpPr/>
          <p:nvPr/>
        </p:nvSpPr>
        <p:spPr>
          <a:xfrm>
            <a:off x="0" y="446534"/>
            <a:ext cx="3352800" cy="144016"/>
          </a:xfrm>
          <a:prstGeom prst="snip2DiagRect">
            <a:avLst>
              <a:gd name="adj1" fmla="val 50000"/>
              <a:gd name="adj2" fmla="val 33198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10092" y="23283"/>
            <a:ext cx="2789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Initial data structure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600" y="742950"/>
            <a:ext cx="8580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120 million 16S reads across 60k OTUs in ~ 1600 samples</a:t>
            </a:r>
          </a:p>
          <a:p>
            <a:r>
              <a:rPr lang="en-US" dirty="0" smtClean="0"/>
              <a:t>118 </a:t>
            </a:r>
            <a:r>
              <a:rPr lang="en-US" dirty="0"/>
              <a:t>million </a:t>
            </a:r>
            <a:r>
              <a:rPr lang="en-US" dirty="0" smtClean="0"/>
              <a:t>ITS reads </a:t>
            </a:r>
            <a:r>
              <a:rPr lang="en-US" dirty="0"/>
              <a:t>across </a:t>
            </a:r>
            <a:r>
              <a:rPr lang="en-US" dirty="0" smtClean="0"/>
              <a:t>3k </a:t>
            </a:r>
            <a:r>
              <a:rPr lang="en-US" dirty="0"/>
              <a:t>OTUs in ~ 1600 </a:t>
            </a:r>
            <a:r>
              <a:rPr lang="en-US" dirty="0" smtClean="0"/>
              <a:t>samples</a:t>
            </a:r>
          </a:p>
          <a:p>
            <a:r>
              <a:rPr lang="en-US" dirty="0" smtClean="0"/>
              <a:t>If rarefied, each sample contains 10k reads (counts)</a:t>
            </a:r>
            <a:endParaRPr lang="en-US" dirty="0"/>
          </a:p>
          <a:p>
            <a:r>
              <a:rPr lang="en-US" dirty="0" smtClean="0"/>
              <a:t>Plant species phylogenetic relatedness can be reduced to a bray-</a:t>
            </a:r>
            <a:r>
              <a:rPr lang="en-US" dirty="0" err="1" smtClean="0"/>
              <a:t>curtis</a:t>
            </a:r>
            <a:r>
              <a:rPr lang="en-US" dirty="0" smtClean="0"/>
              <a:t> dissimilarity matrix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15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Diagonal Corner Rectangle 3"/>
          <p:cNvSpPr/>
          <p:nvPr/>
        </p:nvSpPr>
        <p:spPr>
          <a:xfrm>
            <a:off x="0" y="446534"/>
            <a:ext cx="3352800" cy="144016"/>
          </a:xfrm>
          <a:prstGeom prst="snip2DiagRect">
            <a:avLst>
              <a:gd name="adj1" fmla="val 50000"/>
              <a:gd name="adj2" fmla="val 33198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/>
          </a:p>
        </p:txBody>
      </p:sp>
      <p:sp>
        <p:nvSpPr>
          <p:cNvPr id="5" name="TextBox 4"/>
          <p:cNvSpPr txBox="1"/>
          <p:nvPr/>
        </p:nvSpPr>
        <p:spPr>
          <a:xfrm>
            <a:off x="10092" y="23283"/>
            <a:ext cx="4050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Proceeding with Collaboration</a:t>
            </a:r>
            <a:endParaRPr lang="en-US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04800" y="704334"/>
            <a:ext cx="4575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 can have a parallel approach to collaborate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572220"/>
            <a:ext cx="80999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First option for short-term result: </a:t>
            </a:r>
          </a:p>
          <a:p>
            <a:r>
              <a:rPr lang="en-US" b="1" dirty="0" smtClean="0"/>
              <a:t>Action: </a:t>
            </a:r>
            <a:r>
              <a:rPr lang="en-US" dirty="0" err="1" smtClean="0"/>
              <a:t>Pariya</a:t>
            </a:r>
            <a:r>
              <a:rPr lang="en-US" dirty="0" smtClean="0"/>
              <a:t> oversees networks that Pedro constructs. Discussions during meetings.</a:t>
            </a:r>
          </a:p>
          <a:p>
            <a:r>
              <a:rPr lang="en-US" b="1" dirty="0" smtClean="0"/>
              <a:t>Outcome: </a:t>
            </a:r>
            <a:r>
              <a:rPr lang="en-US" dirty="0" err="1"/>
              <a:t>Pariya</a:t>
            </a:r>
            <a:r>
              <a:rPr lang="en-US" dirty="0"/>
              <a:t> </a:t>
            </a:r>
            <a:r>
              <a:rPr lang="en-US" dirty="0" smtClean="0"/>
              <a:t>as a co-author in the first paper for this dataset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31800" y="2876550"/>
            <a:ext cx="85931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Second option for long-term collaboration: </a:t>
            </a:r>
          </a:p>
          <a:p>
            <a:r>
              <a:rPr lang="en-US" b="1" dirty="0" smtClean="0"/>
              <a:t>Action: </a:t>
            </a:r>
            <a:r>
              <a:rPr lang="en-US" dirty="0" err="1" smtClean="0"/>
              <a:t>Pariya</a:t>
            </a:r>
            <a:r>
              <a:rPr lang="en-US" dirty="0" smtClean="0"/>
              <a:t> officially joins MICROP, </a:t>
            </a:r>
            <a:r>
              <a:rPr lang="en-US" dirty="0"/>
              <a:t>Funding for a PhD student is arranged</a:t>
            </a:r>
            <a:endParaRPr lang="en-US" b="1" dirty="0"/>
          </a:p>
          <a:p>
            <a:r>
              <a:rPr lang="en-US" b="1" dirty="0" smtClean="0"/>
              <a:t>Outcome: </a:t>
            </a:r>
            <a:r>
              <a:rPr lang="en-US" dirty="0" smtClean="0"/>
              <a:t>Mathematical models that account for our experimental designs </a:t>
            </a:r>
            <a:r>
              <a:rPr lang="en-US" smtClean="0"/>
              <a:t>are developed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16887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412483FFC35649B797435CD3F0398D" ma:contentTypeVersion="13" ma:contentTypeDescription="Create a new document." ma:contentTypeScope="" ma:versionID="bc1693a0f8f8a56dd0f8736d468a9701">
  <xsd:schema xmlns:xsd="http://www.w3.org/2001/XMLSchema" xmlns:xs="http://www.w3.org/2001/XMLSchema" xmlns:p="http://schemas.microsoft.com/office/2006/metadata/properties" xmlns:ns2="c547a812-ac17-4a6a-8bd9-a75acfa31021" xmlns:ns3="814e9f69-708b-42d1-b772-2ece2c1b39da" targetNamespace="http://schemas.microsoft.com/office/2006/metadata/properties" ma:root="true" ma:fieldsID="dee7b86f1ea803d04819fbf1cdce97f7" ns2:_="" ns3:_="">
    <xsd:import namespace="c547a812-ac17-4a6a-8bd9-a75acfa31021"/>
    <xsd:import namespace="814e9f69-708b-42d1-b772-2ece2c1b39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47a812-ac17-4a6a-8bd9-a75acfa310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4e9f69-708b-42d1-b772-2ece2c1b39d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B7B3F4-52E8-4630-BDFC-2DAA46B16C41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547a812-ac17-4a6a-8bd9-a75acfa31021"/>
    <ds:schemaRef ds:uri="814e9f69-708b-42d1-b772-2ece2c1b39da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186F00D-3C95-4CD5-9FAA-C465729138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D605F2-4864-4FDE-84C7-92C06A5F8A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47a812-ac17-4a6a-8bd9-a75acfa31021"/>
    <ds:schemaRef ds:uri="814e9f69-708b-42d1-b772-2ece2c1b39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548</Words>
  <Application>Microsoft Office PowerPoint</Application>
  <PresentationFormat>On-screen Show (16:9)</PresentationFormat>
  <Paragraphs>98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Meeting Log MICROP’s Brassiaceae Family experiment &amp; Pariya Behrouzi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Targeted culturing in MICROP’s Brassiaceae Family experiment</dc:title>
  <dc:creator/>
  <cp:lastModifiedBy>pedro</cp:lastModifiedBy>
  <cp:revision>42</cp:revision>
  <dcterms:created xsi:type="dcterms:W3CDTF">2006-08-16T00:00:00Z</dcterms:created>
  <dcterms:modified xsi:type="dcterms:W3CDTF">2022-05-23T12:07:23Z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0x0101000E412483FFC35649B797435CD3F0398D</vt:lpwstr>
  </property>
</Properties>
</file>