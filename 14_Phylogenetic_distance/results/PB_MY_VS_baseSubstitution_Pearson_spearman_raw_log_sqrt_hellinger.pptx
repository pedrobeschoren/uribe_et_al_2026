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1" r:id="rId7"/>
    <p:sldId id="259" r:id="rId8"/>
    <p:sldId id="262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AD08-2A7E-B76D-BA83-F4EDB9DF6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1BCB5-9BBE-A21F-A19B-52E52DC7A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DD41A-AA8F-C7F2-85FF-65DB247C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9AE26-3DB8-78BC-B731-0D15142C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69753-E244-8E0B-88C0-9490B35C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6895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730C-8783-F59E-F32D-87392AFC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8DBB6-B710-50D4-BF90-2111D15D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D39DF-DC80-ED9F-DD81-1B162915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9C589-5A4F-B000-D041-98C99637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D29E9-C6A7-C93E-8F0C-01277BF3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8979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123E-B4E2-ABD5-5BD7-D5C81CE77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DFE0D-89F5-41CD-9C46-DF7177826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38F59-230B-9B3C-99C5-E7E22D74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43310-128B-DBDD-9623-1594397D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87D2F-C387-6152-B27E-DC402D46C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6860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6788-7A9C-8DB7-ABB3-B67046BE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F4771-81FC-155E-3DFF-81D33FD3CD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BCCC7-5614-49C9-33FB-FCF81C5DC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1BF9B-DC86-0950-73EB-F733D5E5F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8B7A3-021A-B085-D909-91D9A396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88CBA-B7EB-F59B-C8DC-5B8548F3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413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3FD6-1540-EC91-3BF5-CD748035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A5868-B2CA-502F-26BF-73A908E29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32239-1028-44DC-C2A5-3B4E8576A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DAEC22-0EEA-616C-7F92-00D2DC02D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7F00F-84CD-AA36-503D-3811562BBC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DD523-89E8-D046-4836-D036E304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43E8C2-2F23-BD71-4D8B-C588AC74D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92767-8818-C1A8-70AD-800814DA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15930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5F07-F43D-9011-FB41-5C6EC616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E3B51-9F54-EA92-18D5-EDEBEACE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0A327-04DF-7B6C-4C60-BF816C122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AEC06-5399-9396-B452-34BE425B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344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CFD1FA-CB2E-78F4-FAEA-EA4E6169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636D5-A0B8-A2ED-FBBF-16EBB267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CA840-56E7-CDCD-4DBA-F64D682C3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122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707E-6CF8-9640-DB0A-31D6DEAE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C003-3BF2-7552-0792-EC090F8B1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EDAE94-F1C4-6545-F231-071806271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FD7FA-C688-2E8D-A144-2A99F1F0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6B6B-6979-70E6-9B45-3EC0356DB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5DFBE-12F0-9A57-82B3-9C65F0E7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3934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1D31-077C-980F-D31A-036E1478F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A029B-C965-C599-F218-1622CF912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EC582-FDD3-EB3B-87B3-96D745211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8E53E-8DCC-226C-417E-B6554B145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C7D14-3347-6CC2-9BE2-B5BFB43EB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E4C34-4422-7210-1F06-7A9CC329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087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B8886-A663-F074-DD94-30C3676C3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ED92C-B282-E58F-E1B1-11075F7FC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A22B9-AD0F-7977-436A-5C9FE8FC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E52A-0FB9-5AD4-5E2F-CAC4CE9B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04C04-4FC9-5E15-7D6C-0E6546416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6023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37D395-CADD-E31C-4D05-AEBB0F015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04B71-900B-5F2C-8E56-751B961A4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4565E-7279-3350-E9D9-3098FD16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19D70-59EC-E14B-4F24-1D885248D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52127-AA06-00A0-47DD-FD7731DE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8914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0F007E-2D5D-2BC5-0CC9-7FB2CB6D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C26BD-4289-6317-6292-471DF0D0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C9C2B-799E-9A40-31C8-37278993A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01E78-31A8-44FF-AA17-01AAD9E31E43}" type="datetimeFigureOut">
              <a:rPr lang="en-NL" smtClean="0"/>
              <a:t>04/04/2023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8D98F-976C-FB0E-F75E-18B1DE596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EB225-1441-94C8-6466-7741CE407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DDFCB-228F-4D82-93B9-256C613B967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18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20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4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A8A941-838C-C2F9-F461-D381EB0A6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44"/>
            <a:ext cx="2388099" cy="2232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2555F8-F031-726E-EAEA-1DF31BD9DC8D}"/>
              </a:ext>
            </a:extLst>
          </p:cNvPr>
          <p:cNvSpPr txBox="1"/>
          <p:nvPr/>
        </p:nvSpPr>
        <p:spPr>
          <a:xfrm>
            <a:off x="393445" y="-19019"/>
            <a:ext cx="931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tree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13DF97-9D26-B3DF-3272-97569CB5A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68" y="54429"/>
            <a:ext cx="1953754" cy="1826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A618F-93A0-DBF8-8B41-9D707C9A3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103" y="0"/>
            <a:ext cx="2452904" cy="22929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7ECB05-0DE8-D8D5-6B06-9F50D67F2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349" y="1880764"/>
            <a:ext cx="1596981" cy="1492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65364A-AD0C-8FF4-580E-4B4F55534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984" y="1880764"/>
            <a:ext cx="2061160" cy="19267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57EE30-1E24-AD53-2056-D4C69D8F93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154" y="3401042"/>
            <a:ext cx="1596981" cy="14928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C3BED1-DC75-9BAD-EC0C-E204DD583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984" y="4820774"/>
            <a:ext cx="2179359" cy="20372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5A1111-9B49-A8FB-A292-F80EF5C275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8099" y="4977237"/>
            <a:ext cx="1902482" cy="17784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075115-789F-972B-3BBC-27DED28C90D0}"/>
              </a:ext>
            </a:extLst>
          </p:cNvPr>
          <p:cNvSpPr txBox="1"/>
          <p:nvPr/>
        </p:nvSpPr>
        <p:spPr>
          <a:xfrm>
            <a:off x="2744872" y="277121"/>
            <a:ext cx="534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</a:t>
            </a:r>
            <a:endParaRPr lang="en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1B5E6-5FC9-D273-0404-AE05DEBC1308}"/>
              </a:ext>
            </a:extLst>
          </p:cNvPr>
          <p:cNvSpPr txBox="1"/>
          <p:nvPr/>
        </p:nvSpPr>
        <p:spPr>
          <a:xfrm>
            <a:off x="2888260" y="2128587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sqrt</a:t>
            </a:r>
            <a:endParaRPr lang="en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3DC4C-9D12-3014-E725-28F8DAEA1086}"/>
              </a:ext>
            </a:extLst>
          </p:cNvPr>
          <p:cNvSpPr txBox="1"/>
          <p:nvPr/>
        </p:nvSpPr>
        <p:spPr>
          <a:xfrm>
            <a:off x="2820654" y="3689127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</a:t>
            </a:r>
            <a:endParaRPr lang="en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64B7DB-5C10-C75B-407B-19775320D2A7}"/>
              </a:ext>
            </a:extLst>
          </p:cNvPr>
          <p:cNvSpPr txBox="1"/>
          <p:nvPr/>
        </p:nvSpPr>
        <p:spPr>
          <a:xfrm>
            <a:off x="2820654" y="5409726"/>
            <a:ext cx="1005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hellinger</a:t>
            </a:r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973B83-B8A6-6D40-A85F-E0A0310003EB}"/>
              </a:ext>
            </a:extLst>
          </p:cNvPr>
          <p:cNvSpPr txBox="1"/>
          <p:nvPr/>
        </p:nvSpPr>
        <p:spPr>
          <a:xfrm>
            <a:off x="10069750" y="34882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Spearman</a:t>
            </a:r>
            <a:endParaRPr lang="en-N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2C9A93-D36A-BB32-080B-D37B56A7F008}"/>
              </a:ext>
            </a:extLst>
          </p:cNvPr>
          <p:cNvSpPr txBox="1"/>
          <p:nvPr/>
        </p:nvSpPr>
        <p:spPr>
          <a:xfrm>
            <a:off x="8075584" y="-60431"/>
            <a:ext cx="93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</a:t>
            </a:r>
            <a:endParaRPr lang="en-NL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86353B-40DE-4E57-1E3A-B56724AB00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3742" y="277121"/>
            <a:ext cx="1841927" cy="1721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D8C960-0EF8-2E73-4321-005A68C47C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8194" y="350313"/>
            <a:ext cx="1841927" cy="1721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616D4D-6186-D9E9-0717-FE1E191DD6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12372" y="1880763"/>
            <a:ext cx="1691368" cy="15810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0D3824-CD89-6BB1-87D3-52A295A36C2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39502" y="1880763"/>
            <a:ext cx="1691368" cy="15810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FC37025-9513-38FC-5AC8-6A14C48E273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1370" y="2034191"/>
            <a:ext cx="1649292" cy="154173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E9BDAE8-3C7A-B750-2EA3-36673F8134D2}"/>
              </a:ext>
            </a:extLst>
          </p:cNvPr>
          <p:cNvSpPr txBox="1"/>
          <p:nvPr/>
        </p:nvSpPr>
        <p:spPr>
          <a:xfrm>
            <a:off x="424772" y="215932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</a:t>
            </a:r>
            <a:endParaRPr lang="en-NL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A550E3-114C-D6E1-5614-875CB3E9A4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122" y="3575921"/>
            <a:ext cx="1820288" cy="170157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87822D2-8F42-96CD-E45D-73E244139A6B}"/>
              </a:ext>
            </a:extLst>
          </p:cNvPr>
          <p:cNvSpPr txBox="1"/>
          <p:nvPr/>
        </p:nvSpPr>
        <p:spPr>
          <a:xfrm>
            <a:off x="468030" y="3832479"/>
            <a:ext cx="62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</a:t>
            </a:r>
            <a:endParaRPr lang="en-NL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544D707-FC4B-3DA1-C4EA-7472A47E3A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96994" y="3548661"/>
            <a:ext cx="1691368" cy="158106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AB5FEB1-F08B-E8FB-2DBD-73E932473D5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7426" y="3548662"/>
            <a:ext cx="1581275" cy="147814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CFDEBA-F708-8553-58C1-517826AC12F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3131" y="5277495"/>
            <a:ext cx="1581276" cy="147814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0F677F3-79A6-99D1-4DC6-C58E0492FED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82195" y="5210561"/>
            <a:ext cx="1581276" cy="147814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BADFAC2-08EB-6A55-CF30-3FFDC10B01D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1846" y="5138474"/>
            <a:ext cx="1668816" cy="155998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9E50A0-2FEF-0808-CC7D-A1E41DF2073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83841" y="5163256"/>
            <a:ext cx="1446606" cy="135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98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459A5E-0899-9BCF-BED9-1E709066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65" y="25913"/>
            <a:ext cx="2327665" cy="21758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E7EF06-5CA9-5AA8-2AC3-D0D837B807FF}"/>
              </a:ext>
            </a:extLst>
          </p:cNvPr>
          <p:cNvSpPr txBox="1"/>
          <p:nvPr/>
        </p:nvSpPr>
        <p:spPr>
          <a:xfrm>
            <a:off x="77452" y="25913"/>
            <a:ext cx="2237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 substitution tree</a:t>
            </a:r>
            <a:endParaRPr lang="en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A84633-83D5-1D6C-FFB2-7C7F6B4BE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25" y="1888433"/>
            <a:ext cx="1649292" cy="15417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FD18B5-B9F4-4ADC-E852-82ABA0A400F0}"/>
              </a:ext>
            </a:extLst>
          </p:cNvPr>
          <p:cNvSpPr txBox="1"/>
          <p:nvPr/>
        </p:nvSpPr>
        <p:spPr>
          <a:xfrm>
            <a:off x="522327" y="20135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</a:t>
            </a:r>
            <a:endParaRPr lang="en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C520FA-0515-2D42-65B3-EAD0D6228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77" y="3430163"/>
            <a:ext cx="1820288" cy="17015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C939F6-8EDC-64B4-D806-30A93461392D}"/>
              </a:ext>
            </a:extLst>
          </p:cNvPr>
          <p:cNvSpPr txBox="1"/>
          <p:nvPr/>
        </p:nvSpPr>
        <p:spPr>
          <a:xfrm>
            <a:off x="565585" y="3686721"/>
            <a:ext cx="62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</a:t>
            </a:r>
            <a:endParaRPr lang="en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838485-A3E8-B901-5C40-B8D39058E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1587" y="0"/>
            <a:ext cx="2020184" cy="18884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000885-D854-A2B8-6DB4-D7A66D49EE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7768" y="0"/>
            <a:ext cx="1649292" cy="15417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FA2932-131C-748C-091D-9065F93738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2295" y="1636841"/>
            <a:ext cx="1649292" cy="1541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BE7F8B-C791-580D-17E6-4EDAA7A7FF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9698" y="1686177"/>
            <a:ext cx="2082172" cy="1946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BF42B9-9646-B881-C826-85FF8CC013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92295" y="3562117"/>
            <a:ext cx="1692875" cy="1582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FC58C4-3A89-56C3-CB0D-5C3002BBF6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2295" y="5144587"/>
            <a:ext cx="1802509" cy="1684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660879-9004-34F1-9CB2-68208A439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458" y="4808000"/>
            <a:ext cx="2162579" cy="20215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D374B8-7610-7B91-FA18-553EFADEDB9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734" y="5141536"/>
            <a:ext cx="1820288" cy="17015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A382B37-3916-E3D8-D409-755327465A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91688" y="5307106"/>
            <a:ext cx="1585828" cy="14824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DEB4C7-C8FE-FFB4-EA43-4DFF080648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96425" y="5218375"/>
            <a:ext cx="1723573" cy="16111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8C02BC-774B-5003-C227-D083E7DCE3F6}"/>
              </a:ext>
            </a:extLst>
          </p:cNvPr>
          <p:cNvSpPr txBox="1"/>
          <p:nvPr/>
        </p:nvSpPr>
        <p:spPr>
          <a:xfrm>
            <a:off x="9943042" y="-15875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Spearman</a:t>
            </a:r>
            <a:endParaRPr lang="en-N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524D3-627E-5F2F-4785-C086722B2061}"/>
              </a:ext>
            </a:extLst>
          </p:cNvPr>
          <p:cNvSpPr txBox="1"/>
          <p:nvPr/>
        </p:nvSpPr>
        <p:spPr>
          <a:xfrm>
            <a:off x="6331870" y="-123885"/>
            <a:ext cx="93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</a:t>
            </a:r>
            <a:endParaRPr lang="en-NL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3457A8B-510E-FD3B-5677-B9F139B20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94685" y="3562117"/>
            <a:ext cx="1830467" cy="17110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1A34BC4-FD36-A89B-B59F-6407C2DF825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42979" y="3596017"/>
            <a:ext cx="1830467" cy="17110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47C27B6-4556-9782-C94C-EFAC9A3B644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7615" y="1807018"/>
            <a:ext cx="1877547" cy="175509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21C22EC-EF00-6883-AA2D-327E9E37F4B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71506" y="1717911"/>
            <a:ext cx="1830467" cy="17110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36960F-AF10-59C9-7DFB-E5DD737EA6F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4095" y="122131"/>
            <a:ext cx="1671176" cy="15621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CD06D6-BBD4-C5CA-375F-96BC5E5903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06272" y="155724"/>
            <a:ext cx="1671176" cy="15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63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6F09F7-BAE7-F004-F1C0-C9C95DBD9C6A}"/>
              </a:ext>
            </a:extLst>
          </p:cNvPr>
          <p:cNvSpPr txBox="1"/>
          <p:nvPr/>
        </p:nvSpPr>
        <p:spPr>
          <a:xfrm>
            <a:off x="161776" y="8311"/>
            <a:ext cx="490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Kendall, MY, no transformations, 3 neutral families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45AAD-7A67-B3F5-FB3D-5D5582DB6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455"/>
            <a:ext cx="4605670" cy="4305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26E53F-F0E5-3CCC-BA3B-EA55E69AC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78" y="5066209"/>
            <a:ext cx="1696350" cy="17384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41A574-7235-F452-D654-F546C5DAB9B6}"/>
              </a:ext>
            </a:extLst>
          </p:cNvPr>
          <p:cNvSpPr txBox="1"/>
          <p:nvPr/>
        </p:nvSpPr>
        <p:spPr>
          <a:xfrm>
            <a:off x="93849" y="4740170"/>
            <a:ext cx="1682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F__</a:t>
            </a:r>
            <a:r>
              <a:rPr lang="en-US" sz="1200" dirty="0" err="1"/>
              <a:t>commamonadaceae</a:t>
            </a:r>
            <a:endParaRPr lang="en-NL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6DCF83-8229-F7E5-08FC-5F243862E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864" y="5017168"/>
            <a:ext cx="1744201" cy="1787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2A808E-5259-227D-DD8B-1BF3728261FA}"/>
              </a:ext>
            </a:extLst>
          </p:cNvPr>
          <p:cNvSpPr txBox="1"/>
          <p:nvPr/>
        </p:nvSpPr>
        <p:spPr>
          <a:xfrm>
            <a:off x="4530090" y="4721482"/>
            <a:ext cx="1864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F__</a:t>
            </a:r>
            <a:r>
              <a:rPr lang="en-US" sz="1200" dirty="0" err="1"/>
              <a:t>chitinophagaceae</a:t>
            </a:r>
            <a:endParaRPr lang="en-NL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8004E-FFBF-BB5B-65EA-84E5432E12F7}"/>
              </a:ext>
            </a:extLst>
          </p:cNvPr>
          <p:cNvSpPr txBox="1"/>
          <p:nvPr/>
        </p:nvSpPr>
        <p:spPr>
          <a:xfrm>
            <a:off x="2427149" y="4828466"/>
            <a:ext cx="2747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F__</a:t>
            </a:r>
            <a:r>
              <a:rPr lang="en-US" sz="1200" dirty="0" err="1"/>
              <a:t>xanthomonadaceae</a:t>
            </a:r>
            <a:endParaRPr lang="en-NL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D47A19-306A-4954-852A-E6D4D3D07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2835" y="5105548"/>
            <a:ext cx="1684622" cy="17264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6E66EA2-ABB0-FD0B-DBC1-5ADBCC336943}"/>
              </a:ext>
            </a:extLst>
          </p:cNvPr>
          <p:cNvSpPr txBox="1"/>
          <p:nvPr/>
        </p:nvSpPr>
        <p:spPr>
          <a:xfrm>
            <a:off x="4956004" y="-25553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above-neutral</a:t>
            </a:r>
            <a:endParaRPr lang="en-NL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1EDBD1-FFCB-E278-1A64-0DB475AE1A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04" y="2862863"/>
            <a:ext cx="1744201" cy="17875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BF3FB8-69C0-C0A2-1FE5-2F343029AB08}"/>
              </a:ext>
            </a:extLst>
          </p:cNvPr>
          <p:cNvSpPr txBox="1"/>
          <p:nvPr/>
        </p:nvSpPr>
        <p:spPr>
          <a:xfrm>
            <a:off x="4819314" y="2499748"/>
            <a:ext cx="1883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O__</a:t>
            </a:r>
            <a:r>
              <a:rPr lang="en-US" sz="1600" b="1" dirty="0" err="1">
                <a:solidFill>
                  <a:srgbClr val="FF0000"/>
                </a:solidFill>
              </a:rPr>
              <a:t>Caulobacterales</a:t>
            </a:r>
            <a:endParaRPr lang="en-NL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99D8D5-6C57-05ED-2777-C47E58F7F142}"/>
              </a:ext>
            </a:extLst>
          </p:cNvPr>
          <p:cNvSpPr txBox="1"/>
          <p:nvPr/>
        </p:nvSpPr>
        <p:spPr>
          <a:xfrm>
            <a:off x="5066132" y="42989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200" dirty="0"/>
              <a:t>o__</a:t>
            </a:r>
            <a:r>
              <a:rPr lang="en-NL" sz="1200" dirty="0" err="1"/>
              <a:t>Chitinophagales</a:t>
            </a:r>
            <a:endParaRPr lang="en-NL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AF6209-2DEB-8D84-F53B-BA6DBAC8C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4940" y="704294"/>
            <a:ext cx="1652021" cy="169306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2F1246-C91F-BFBB-641C-C4BC2DFFDFAC}"/>
              </a:ext>
            </a:extLst>
          </p:cNvPr>
          <p:cNvSpPr txBox="1"/>
          <p:nvPr/>
        </p:nvSpPr>
        <p:spPr>
          <a:xfrm>
            <a:off x="9658315" y="-655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 neutral genus</a:t>
            </a:r>
            <a:endParaRPr lang="en-NL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A6EB7B8-8120-0F26-D8A6-8B47993E11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8613" y="270507"/>
            <a:ext cx="3401611" cy="34861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78F2F6-D1F0-82BB-6C00-B6CF92AC70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7307" y="4786288"/>
            <a:ext cx="1864070" cy="191038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C3EEA14-D600-6670-E941-3D9FB4768F58}"/>
              </a:ext>
            </a:extLst>
          </p:cNvPr>
          <p:cNvSpPr txBox="1"/>
          <p:nvPr/>
        </p:nvSpPr>
        <p:spPr>
          <a:xfrm>
            <a:off x="10377307" y="4447734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g__</a:t>
            </a:r>
            <a:r>
              <a:rPr lang="en-US" sz="1600" b="1" dirty="0" err="1">
                <a:solidFill>
                  <a:srgbClr val="FF0000"/>
                </a:solidFill>
              </a:rPr>
              <a:t>Massilia</a:t>
            </a:r>
            <a:endParaRPr lang="en-NL" sz="1600" b="1" dirty="0">
              <a:solidFill>
                <a:srgbClr val="FF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F89CA14-34C5-58E9-B392-6431F3EFBD5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4978" y="4902896"/>
            <a:ext cx="1814440" cy="185951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9E9777F-270E-0E60-1E18-10AE1A83401C}"/>
              </a:ext>
            </a:extLst>
          </p:cNvPr>
          <p:cNvSpPr txBox="1"/>
          <p:nvPr/>
        </p:nvSpPr>
        <p:spPr>
          <a:xfrm>
            <a:off x="8767934" y="4453456"/>
            <a:ext cx="1561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g__</a:t>
            </a:r>
            <a:r>
              <a:rPr lang="en-NL" dirty="0" err="1"/>
              <a:t>Niastella</a:t>
            </a:r>
            <a:endParaRPr lang="en-NL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FEF64E-AF10-0ED2-4436-1BDA242830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3164" y="3206258"/>
            <a:ext cx="1473918" cy="151053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7D4E10-6519-C239-C764-BB22F2549131}"/>
              </a:ext>
            </a:extLst>
          </p:cNvPr>
          <p:cNvSpPr txBox="1"/>
          <p:nvPr/>
        </p:nvSpPr>
        <p:spPr>
          <a:xfrm>
            <a:off x="7034513" y="2813673"/>
            <a:ext cx="832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g__</a:t>
            </a:r>
            <a:r>
              <a:rPr lang="en-NL" dirty="0" err="1"/>
              <a:t>Arenimonas</a:t>
            </a:r>
            <a:endParaRPr lang="en-NL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F279759-E70A-BB7B-98B8-260826453B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64309" y="909461"/>
            <a:ext cx="1600200" cy="1639957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48B97490-0312-5569-594B-CB5B5C420B42}"/>
              </a:ext>
            </a:extLst>
          </p:cNvPr>
          <p:cNvSpPr txBox="1"/>
          <p:nvPr/>
        </p:nvSpPr>
        <p:spPr>
          <a:xfrm>
            <a:off x="6718153" y="457224"/>
            <a:ext cx="832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g__</a:t>
            </a:r>
            <a:r>
              <a:rPr lang="en-NL" dirty="0" err="1"/>
              <a:t>Phenylobacterium</a:t>
            </a:r>
            <a:endParaRPr lang="en-N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4DC0A9-A29F-2D75-A62D-689A2AA0CB66}"/>
              </a:ext>
            </a:extLst>
          </p:cNvPr>
          <p:cNvSpPr txBox="1"/>
          <p:nvPr/>
        </p:nvSpPr>
        <p:spPr>
          <a:xfrm>
            <a:off x="6718153" y="4813815"/>
            <a:ext cx="832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g__</a:t>
            </a:r>
            <a:r>
              <a:rPr lang="en-NL" dirty="0" err="1"/>
              <a:t>Lysobacter</a:t>
            </a:r>
            <a:endParaRPr lang="en-NL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41DDD13-4DC4-3AB3-F105-0E631AB9DA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1390" y="5210674"/>
            <a:ext cx="1419925" cy="145520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62451C4-78C0-3500-05D5-1BB4D2302A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60025" y="2683916"/>
            <a:ext cx="1282627" cy="131449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6929983-5C43-D075-EB85-0E4021486781}"/>
              </a:ext>
            </a:extLst>
          </p:cNvPr>
          <p:cNvSpPr txBox="1"/>
          <p:nvPr/>
        </p:nvSpPr>
        <p:spPr>
          <a:xfrm>
            <a:off x="12487452" y="2134405"/>
            <a:ext cx="8324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Fungi, </a:t>
            </a:r>
            <a:r>
              <a:rPr lang="en-NL" dirty="0"/>
              <a:t>g__</a:t>
            </a:r>
            <a:r>
              <a:rPr lang="en-US" dirty="0" err="1"/>
              <a:t>Penicilium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50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529CE2-BBE1-A679-799A-5C1D4B3E9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872056"/>
              </p:ext>
            </p:extLst>
          </p:nvPr>
        </p:nvGraphicFramePr>
        <p:xfrm>
          <a:off x="0" y="3505028"/>
          <a:ext cx="6962775" cy="3385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2555">
                  <a:extLst>
                    <a:ext uri="{9D8B030D-6E8A-4147-A177-3AD203B41FA5}">
                      <a16:colId xmlns:a16="http://schemas.microsoft.com/office/drawing/2014/main" val="3999758035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2262504374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935387306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4115256816"/>
                    </a:ext>
                  </a:extLst>
                </a:gridCol>
                <a:gridCol w="1392555">
                  <a:extLst>
                    <a:ext uri="{9D8B030D-6E8A-4147-A177-3AD203B41FA5}">
                      <a16:colId xmlns:a16="http://schemas.microsoft.com/office/drawing/2014/main" val="1831538998"/>
                    </a:ext>
                  </a:extLst>
                </a:gridCol>
              </a:tblGrid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$Bac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 VALUES</a:t>
                      </a:r>
                      <a:endParaRPr lang="en-NL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67777029"/>
                  </a:ext>
                </a:extLst>
              </a:tr>
              <a:tr h="3876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Beta_PCoA_PC1_mean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Beta_PCoA_PC2_mean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Beta_PCoA_PC3_mean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3424327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0.338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0.018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0.808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73165406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0.243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0.008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0.921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85989085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0.085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0.269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0.159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30238639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0.048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0.302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0.177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11945126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0.023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0.138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0.316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19001969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0.014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0.195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0.440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4257244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04954666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$Fun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13164741"/>
                  </a:ext>
                </a:extLst>
              </a:tr>
              <a:tr h="3876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Beta_PCoA_PC1_mean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Beta_PCoA_PC2_mean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Beta_PCoA_PC3_mean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23750911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0.022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0.709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0.153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8793565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0.016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0.717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0.092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98111980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0.139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0.595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0.993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61196578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0.108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0.564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0.983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4806988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0.019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0.616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0.211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968636643"/>
                  </a:ext>
                </a:extLst>
              </a:tr>
              <a:tr h="140169"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b="1" u="none" strike="noStrike" dirty="0">
                          <a:effectLst/>
                        </a:rPr>
                        <a:t>0.019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0.651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100" u="none" strike="noStrike">
                          <a:effectLst/>
                        </a:rPr>
                        <a:t>0.163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SA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abouheif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5668432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E708285-E088-A1E4-A990-6763C1F78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214582"/>
              </p:ext>
            </p:extLst>
          </p:nvPr>
        </p:nvGraphicFramePr>
        <p:xfrm>
          <a:off x="7110728" y="0"/>
          <a:ext cx="5081272" cy="689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318">
                  <a:extLst>
                    <a:ext uri="{9D8B030D-6E8A-4147-A177-3AD203B41FA5}">
                      <a16:colId xmlns:a16="http://schemas.microsoft.com/office/drawing/2014/main" val="2174856814"/>
                    </a:ext>
                  </a:extLst>
                </a:gridCol>
                <a:gridCol w="1270318">
                  <a:extLst>
                    <a:ext uri="{9D8B030D-6E8A-4147-A177-3AD203B41FA5}">
                      <a16:colId xmlns:a16="http://schemas.microsoft.com/office/drawing/2014/main" val="2197288719"/>
                    </a:ext>
                  </a:extLst>
                </a:gridCol>
                <a:gridCol w="1270318">
                  <a:extLst>
                    <a:ext uri="{9D8B030D-6E8A-4147-A177-3AD203B41FA5}">
                      <a16:colId xmlns:a16="http://schemas.microsoft.com/office/drawing/2014/main" val="4240396741"/>
                    </a:ext>
                  </a:extLst>
                </a:gridCol>
                <a:gridCol w="1270318">
                  <a:extLst>
                    <a:ext uri="{9D8B030D-6E8A-4147-A177-3AD203B41FA5}">
                      <a16:colId xmlns:a16="http://schemas.microsoft.com/office/drawing/2014/main" val="272665820"/>
                    </a:ext>
                  </a:extLst>
                </a:gridCol>
              </a:tblGrid>
              <a:tr h="2277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 </a:t>
                      </a:r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PC_1</a:t>
                      </a:r>
                      <a:endParaRPr lang="en-NL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Phylogenetic_signal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p_value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257283459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0.06284376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0.75906688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309456109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0.45033694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0.45745746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181562608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0.36968937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0.12972026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839649289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0.57675185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0.14114114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493130197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0.46840079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0.12244573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346830165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0.68077944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0.04204204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370655267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endParaRPr lang="en-NL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206539914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 </a:t>
                      </a:r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PC_1</a:t>
                      </a:r>
                      <a:endParaRPr lang="en-NL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Phylogenetic_signal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p_value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746432560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Control.1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0.3665413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0.03697095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505678218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0.4263493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0.52852853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182651910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0.2317318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0.17677933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164062138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0.3020993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0.86886887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602633902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0.4118797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0.03431264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516071668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0" u="none" strike="noStrike" dirty="0">
                          <a:effectLst/>
                        </a:rPr>
                        <a:t>0.4713065</a:t>
                      </a:r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0" u="none" strike="noStrike" dirty="0">
                          <a:effectLst/>
                        </a:rPr>
                        <a:t>0.38238238</a:t>
                      </a:r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257036865"/>
                  </a:ext>
                </a:extLst>
              </a:tr>
              <a:tr h="177417"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4094927130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 </a:t>
                      </a:r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PC_2</a:t>
                      </a:r>
                      <a:endParaRPr lang="en-NL" sz="12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Phylogenetic_signal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p_value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674416210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i="1" u="none" strike="noStrike" dirty="0">
                          <a:effectLst/>
                        </a:rPr>
                        <a:t>0.6816450</a:t>
                      </a:r>
                      <a:endParaRPr lang="en-NL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i="1" u="none" strike="noStrike" dirty="0">
                          <a:effectLst/>
                        </a:rPr>
                        <a:t>0.06584882</a:t>
                      </a:r>
                      <a:endParaRPr lang="en-NL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6282471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0.7661053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0.02402402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388128038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0.3750040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0.52246194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437071329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0" i="1" u="none" strike="noStrike" dirty="0">
                          <a:effectLst/>
                        </a:rPr>
                        <a:t>0.6345264</a:t>
                      </a:r>
                      <a:endParaRPr lang="en-NL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0" i="1" u="none" strike="noStrike" dirty="0">
                          <a:effectLst/>
                        </a:rPr>
                        <a:t>0.06206206</a:t>
                      </a:r>
                      <a:endParaRPr lang="en-NL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162568531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0.7534883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0.15151928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203991107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0.7349227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b="1" u="none" strike="noStrike" dirty="0">
                          <a:effectLst/>
                        </a:rPr>
                        <a:t>0.02502503</a:t>
                      </a:r>
                      <a:endParaRPr lang="en-NL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318632931"/>
                  </a:ext>
                </a:extLst>
              </a:tr>
              <a:tr h="177417"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64981162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 </a:t>
                      </a:r>
                      <a:r>
                        <a:rPr lang="en-US" sz="12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PC_2</a:t>
                      </a:r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 err="1">
                          <a:effectLst/>
                        </a:rPr>
                        <a:t>Phylogenetic_signal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p_value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test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943695694"/>
                  </a:ext>
                </a:extLst>
              </a:tr>
              <a:tr h="177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6,61E+01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2049083839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Control.2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3,60E+05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0.6886887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547777361"/>
                  </a:ext>
                </a:extLst>
              </a:tr>
              <a:tr h="17741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6,61E+01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NL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810575126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MeJA.2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4,72E+05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0.3673674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3690689305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4,89E+03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0.9817922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lambda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4119348125"/>
                  </a:ext>
                </a:extLst>
              </a:tr>
              <a:tr h="227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SA.2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4,62E+05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200" u="none" strike="noStrike">
                          <a:effectLst/>
                        </a:rPr>
                        <a:t>0.3743744</a:t>
                      </a:r>
                      <a:endParaRPr lang="en-NL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77" marR="2577" marT="2577" marB="0" anchor="b"/>
                </a:tc>
                <a:extLst>
                  <a:ext uri="{0D108BD9-81ED-4DB2-BD59-A6C34878D82A}">
                    <a16:rowId xmlns:a16="http://schemas.microsoft.com/office/drawing/2014/main" val="1056026553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884559-D7BE-CDDE-C443-6A4BB4B50A51}"/>
              </a:ext>
            </a:extLst>
          </p:cNvPr>
          <p:cNvCxnSpPr/>
          <p:nvPr/>
        </p:nvCxnSpPr>
        <p:spPr>
          <a:xfrm>
            <a:off x="2836334" y="3843695"/>
            <a:ext cx="1168400" cy="2937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F7F422-E75E-7E65-95AB-03A733103BEF}"/>
              </a:ext>
            </a:extLst>
          </p:cNvPr>
          <p:cNvCxnSpPr>
            <a:cxnSpLocks/>
          </p:cNvCxnSpPr>
          <p:nvPr/>
        </p:nvCxnSpPr>
        <p:spPr>
          <a:xfrm flipH="1">
            <a:off x="3064934" y="3843695"/>
            <a:ext cx="939800" cy="2937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C1E2946-1CF6-F2A6-F5F6-273E56D39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515" y="38100"/>
            <a:ext cx="3573516" cy="33404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C57FDD-5DFF-ED1C-2319-7F8F591BBD11}"/>
              </a:ext>
            </a:extLst>
          </p:cNvPr>
          <p:cNvSpPr txBox="1"/>
          <p:nvPr/>
        </p:nvSpPr>
        <p:spPr>
          <a:xfrm>
            <a:off x="29002" y="84987"/>
            <a:ext cx="3505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All above-Neutral ASVs</a:t>
            </a:r>
            <a:endParaRPr lang="en-NL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BB60F-3BFB-8CB8-47ED-A94ABFB0CE75}"/>
              </a:ext>
            </a:extLst>
          </p:cNvPr>
          <p:cNvSpPr txBox="1"/>
          <p:nvPr/>
        </p:nvSpPr>
        <p:spPr>
          <a:xfrm>
            <a:off x="355170" y="793053"/>
            <a:ext cx="2709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distances in </a:t>
            </a:r>
            <a:r>
              <a:rPr lang="en-US" dirty="0" err="1"/>
              <a:t>microbime</a:t>
            </a:r>
            <a:r>
              <a:rPr lang="en-US" dirty="0"/>
              <a:t> matrixes correlated to distances in plant phylogeny </a:t>
            </a:r>
            <a:r>
              <a:rPr lang="en-US" dirty="0" err="1"/>
              <a:t>matries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247641B-529D-BDE0-6D8C-666BD52D66DF}"/>
              </a:ext>
            </a:extLst>
          </p:cNvPr>
          <p:cNvSpPr/>
          <p:nvPr/>
        </p:nvSpPr>
        <p:spPr>
          <a:xfrm>
            <a:off x="2540621" y="1586736"/>
            <a:ext cx="524314" cy="290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289979-EBD8-0566-B9EB-DAEC792C7247}"/>
              </a:ext>
            </a:extLst>
          </p:cNvPr>
          <p:cNvSpPr txBox="1"/>
          <p:nvPr/>
        </p:nvSpPr>
        <p:spPr>
          <a:xfrm>
            <a:off x="0" y="2393789"/>
            <a:ext cx="3505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similar plant species have a similar phenotype/microbiome metric?</a:t>
            </a:r>
            <a:endParaRPr lang="en-NL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C690529-CE15-52C7-9142-F027DB2C304C}"/>
              </a:ext>
            </a:extLst>
          </p:cNvPr>
          <p:cNvSpPr/>
          <p:nvPr/>
        </p:nvSpPr>
        <p:spPr>
          <a:xfrm rot="5400000">
            <a:off x="2458922" y="3172025"/>
            <a:ext cx="524314" cy="290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DC26FDA-FBA3-9171-59DB-9EC3E347E5FE}"/>
              </a:ext>
            </a:extLst>
          </p:cNvPr>
          <p:cNvSpPr/>
          <p:nvPr/>
        </p:nvSpPr>
        <p:spPr>
          <a:xfrm>
            <a:off x="6700618" y="5197594"/>
            <a:ext cx="524314" cy="290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0A6670-1A3B-0BE9-8A28-946A29B59DC5}"/>
              </a:ext>
            </a:extLst>
          </p:cNvPr>
          <p:cNvSpPr/>
          <p:nvPr/>
        </p:nvSpPr>
        <p:spPr>
          <a:xfrm>
            <a:off x="29003" y="3778964"/>
            <a:ext cx="1344132" cy="14186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C0AE04-4711-0D2C-7B69-D1C393CCBB16}"/>
              </a:ext>
            </a:extLst>
          </p:cNvPr>
          <p:cNvSpPr/>
          <p:nvPr/>
        </p:nvSpPr>
        <p:spPr>
          <a:xfrm>
            <a:off x="7057493" y="-10075"/>
            <a:ext cx="5105505" cy="174262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99924E-23C3-CC47-CAAB-9A4197D16B1C}"/>
              </a:ext>
            </a:extLst>
          </p:cNvPr>
          <p:cNvSpPr/>
          <p:nvPr/>
        </p:nvSpPr>
        <p:spPr>
          <a:xfrm>
            <a:off x="7057492" y="1839297"/>
            <a:ext cx="5105505" cy="1594727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FC4C26-961B-7561-E3CB-393B1031341E}"/>
              </a:ext>
            </a:extLst>
          </p:cNvPr>
          <p:cNvSpPr/>
          <p:nvPr/>
        </p:nvSpPr>
        <p:spPr>
          <a:xfrm>
            <a:off x="7105906" y="3540775"/>
            <a:ext cx="5105505" cy="174262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131AB6-B35B-4026-001C-09FE7D05A320}"/>
              </a:ext>
            </a:extLst>
          </p:cNvPr>
          <p:cNvSpPr/>
          <p:nvPr/>
        </p:nvSpPr>
        <p:spPr>
          <a:xfrm>
            <a:off x="7139731" y="5390147"/>
            <a:ext cx="4901474" cy="1500013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036442-3D63-0E4A-5C3F-894FF6FB92A0}"/>
              </a:ext>
            </a:extLst>
          </p:cNvPr>
          <p:cNvSpPr/>
          <p:nvPr/>
        </p:nvSpPr>
        <p:spPr>
          <a:xfrm>
            <a:off x="1402138" y="3778964"/>
            <a:ext cx="1344132" cy="141863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0E4FE1D-CF2E-FBDE-9E34-6977A53F5156}"/>
              </a:ext>
            </a:extLst>
          </p:cNvPr>
          <p:cNvSpPr/>
          <p:nvPr/>
        </p:nvSpPr>
        <p:spPr>
          <a:xfrm>
            <a:off x="31935" y="5487783"/>
            <a:ext cx="1344132" cy="14186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74E1DA-C35D-D59A-7DDC-3BD4E76CDBFA}"/>
              </a:ext>
            </a:extLst>
          </p:cNvPr>
          <p:cNvSpPr/>
          <p:nvPr/>
        </p:nvSpPr>
        <p:spPr>
          <a:xfrm>
            <a:off x="1405070" y="5487783"/>
            <a:ext cx="1344132" cy="141863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49459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5F13F1-1994-A12D-EED2-8BF402F5E001}"/>
              </a:ext>
            </a:extLst>
          </p:cNvPr>
          <p:cNvSpPr txBox="1"/>
          <p:nvPr/>
        </p:nvSpPr>
        <p:spPr>
          <a:xfrm>
            <a:off x="4335201" y="2218587"/>
            <a:ext cx="2105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All below-Neutral ASVs</a:t>
            </a:r>
            <a:endParaRPr lang="en-NL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19C1E7-F5BA-9A85-2DF9-4E4CEA999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198541"/>
              </p:ext>
            </p:extLst>
          </p:nvPr>
        </p:nvGraphicFramePr>
        <p:xfrm>
          <a:off x="114361" y="3352160"/>
          <a:ext cx="5613400" cy="3445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3633891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4526251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598679714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99880965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396360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33547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24466844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$Bac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152239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Beta_PCoA_PC1_mean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Beta_PCoA_PC2_mean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Rsqr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572887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0.0754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0.1218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0.2011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0.1223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947160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0.0551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0.1437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0.1600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0.1502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25885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0.0039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0.4883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0.1586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0.2603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996653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0.0043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0.5503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0.1429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0.2207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727921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0.0020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0.2875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0.1237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0.2376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283165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0.0018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0.3965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0.1266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0.2048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04039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456171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$Fun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0517913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Stress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Beta_PCoA_PC1_mean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Beta_PCoA_PC2_mean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Rsqr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37961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0.8363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0.0032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0.1125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0.4051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616876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0.8453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0.0031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0.0831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0.3845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233756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0.8832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0.0220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0.2186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0.4499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3695227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0.8912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b="1" u="none" strike="noStrike" dirty="0">
                          <a:effectLst/>
                        </a:rPr>
                        <a:t>0.0143</a:t>
                      </a:r>
                      <a:endParaRPr lang="en-NL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0.1509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0.4167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abouheif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4971794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0.6011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0.2011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0.2481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0.6826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moran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15361684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/>
                      <a:r>
                        <a:rPr lang="en-NL" sz="1100" u="none" strike="noStrike">
                          <a:effectLst/>
                        </a:rPr>
                        <a:t>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0.6463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0.1614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0.1974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0.6594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abouheif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184665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37B2DB3-7555-038B-CC37-8AD293FAD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22535"/>
              </p:ext>
            </p:extLst>
          </p:nvPr>
        </p:nvGraphicFramePr>
        <p:xfrm>
          <a:off x="6254753" y="-20336"/>
          <a:ext cx="5765798" cy="674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8718">
                  <a:extLst>
                    <a:ext uri="{9D8B030D-6E8A-4147-A177-3AD203B41FA5}">
                      <a16:colId xmlns:a16="http://schemas.microsoft.com/office/drawing/2014/main" val="2614015872"/>
                    </a:ext>
                  </a:extLst>
                </a:gridCol>
                <a:gridCol w="928718">
                  <a:extLst>
                    <a:ext uri="{9D8B030D-6E8A-4147-A177-3AD203B41FA5}">
                      <a16:colId xmlns:a16="http://schemas.microsoft.com/office/drawing/2014/main" val="178991247"/>
                    </a:ext>
                  </a:extLst>
                </a:gridCol>
                <a:gridCol w="2205709">
                  <a:extLst>
                    <a:ext uri="{9D8B030D-6E8A-4147-A177-3AD203B41FA5}">
                      <a16:colId xmlns:a16="http://schemas.microsoft.com/office/drawing/2014/main" val="735738165"/>
                    </a:ext>
                  </a:extLst>
                </a:gridCol>
                <a:gridCol w="1702653">
                  <a:extLst>
                    <a:ext uri="{9D8B030D-6E8A-4147-A177-3AD203B41FA5}">
                      <a16:colId xmlns:a16="http://schemas.microsoft.com/office/drawing/2014/main" val="2583548973"/>
                    </a:ext>
                  </a:extLst>
                </a:gridCol>
              </a:tblGrid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$Bac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PC_1</a:t>
                      </a:r>
                      <a:endParaRPr lang="en-NL" sz="1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444864709"/>
                  </a:ext>
                </a:extLst>
              </a:tr>
              <a:tr h="308759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Phylogenetic_signal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p_value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799377040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0.2478763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0.31644327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802791367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0.5593708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0.17311731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254882505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0.5904177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0.01976785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018893803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0.7688659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0.01560156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433756233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0.7318389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0.01670411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832203516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0.8553034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0.00590059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4114316886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349246025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$Fun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PC_1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959830294"/>
                  </a:ext>
                </a:extLst>
              </a:tr>
              <a:tr h="308759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Phylogenetic_signal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p_value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952574783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6,61E+01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u="none" strike="noStrike" dirty="0">
                          <a:effectLst/>
                        </a:rPr>
                        <a:t>1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lambda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962915189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2,93E+05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0.9256926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52548536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6,61E+01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u="none" strike="noStrike" dirty="0">
                          <a:effectLst/>
                        </a:rPr>
                        <a:t>1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lambda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24993819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3,24E+05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0.8458846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671462633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6,61E+01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u="none" strike="noStrike" dirty="0">
                          <a:effectLst/>
                        </a:rPr>
                        <a:t>1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lambda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760652835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4,34E+05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0.4413441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24870395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021977954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&gt;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extract_lambda_k_p(PC2_lambda_k)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568292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$Bac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PC_2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4059357410"/>
                  </a:ext>
                </a:extLst>
              </a:tr>
              <a:tr h="308759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Phylogenetic_signal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p_value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351716047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0.5832554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0.14791557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4019475674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0.6411195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i="1" u="none" strike="noStrike" dirty="0">
                          <a:effectLst/>
                        </a:rPr>
                        <a:t>0.07780778</a:t>
                      </a:r>
                      <a:endParaRPr lang="en-NL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93829740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0.1135945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0.77384477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594492452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0.5956369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0.12311231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251242231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0.7899800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0.23061123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062656096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0.7169301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0.03210321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1490581601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90583740"/>
                  </a:ext>
                </a:extLst>
              </a:tr>
              <a:tr h="1555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$Fun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PC_2</a:t>
                      </a:r>
                      <a:endParaRPr lang="en-NL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993321772"/>
                  </a:ext>
                </a:extLst>
              </a:tr>
              <a:tr h="308759">
                <a:tc>
                  <a:txBody>
                    <a:bodyPr/>
                    <a:lstStyle/>
                    <a:p>
                      <a:pPr algn="ctr" fontAlgn="b"/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Phylogenetic_signal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p_value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test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492920447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0.5165833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0.009929092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434990268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Control.2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0.6834912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i="1" u="none" strike="noStrike" dirty="0">
                          <a:effectLst/>
                        </a:rPr>
                        <a:t>0.053805381</a:t>
                      </a:r>
                      <a:endParaRPr lang="en-NL" sz="10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404848595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0.3945823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b="1" u="none" strike="noStrike" dirty="0">
                          <a:effectLst/>
                        </a:rPr>
                        <a:t>0.038258757</a:t>
                      </a:r>
                      <a:endParaRPr lang="en-NL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910607636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MeJA.2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0.4789166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0.380238024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470464476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0.2221164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0.221655520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lambda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2074465427"/>
                  </a:ext>
                </a:extLst>
              </a:tr>
              <a:tr h="18514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>
                          <a:effectLst/>
                        </a:rPr>
                        <a:t>SA.2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0.3085339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NL" sz="1000" u="none" strike="noStrike">
                          <a:effectLst/>
                        </a:rPr>
                        <a:t>0.869186919</a:t>
                      </a:r>
                      <a:endParaRPr lang="en-NL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u="none" strike="noStrike" dirty="0">
                          <a:effectLst/>
                        </a:rPr>
                        <a:t>K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737" marR="2737" marT="2737" marB="0" anchor="ctr"/>
                </a:tc>
                <a:extLst>
                  <a:ext uri="{0D108BD9-81ED-4DB2-BD59-A6C34878D82A}">
                    <a16:rowId xmlns:a16="http://schemas.microsoft.com/office/drawing/2014/main" val="31402813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A288B6E-FC43-556A-EAB2-D0AAEC048EE9}"/>
              </a:ext>
            </a:extLst>
          </p:cNvPr>
          <p:cNvSpPr/>
          <p:nvPr/>
        </p:nvSpPr>
        <p:spPr>
          <a:xfrm>
            <a:off x="7054560" y="133343"/>
            <a:ext cx="4765965" cy="149046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C4E94B-3367-126A-59ED-E864B530CBE0}"/>
              </a:ext>
            </a:extLst>
          </p:cNvPr>
          <p:cNvSpPr/>
          <p:nvPr/>
        </p:nvSpPr>
        <p:spPr>
          <a:xfrm>
            <a:off x="7054559" y="1916989"/>
            <a:ext cx="4699291" cy="125570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0BE07-581E-D5A0-E72B-4ADD31945C16}"/>
              </a:ext>
            </a:extLst>
          </p:cNvPr>
          <p:cNvSpPr/>
          <p:nvPr/>
        </p:nvSpPr>
        <p:spPr>
          <a:xfrm>
            <a:off x="7054559" y="3616677"/>
            <a:ext cx="5105505" cy="140829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727292-84D1-9226-B159-3196B59687AC}"/>
              </a:ext>
            </a:extLst>
          </p:cNvPr>
          <p:cNvSpPr/>
          <p:nvPr/>
        </p:nvSpPr>
        <p:spPr>
          <a:xfrm>
            <a:off x="7119077" y="5318155"/>
            <a:ext cx="4901474" cy="140650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74163E-0A9B-BED4-8388-EB6AAF0D0F4B}"/>
              </a:ext>
            </a:extLst>
          </p:cNvPr>
          <p:cNvSpPr/>
          <p:nvPr/>
        </p:nvSpPr>
        <p:spPr>
          <a:xfrm>
            <a:off x="2708121" y="3484919"/>
            <a:ext cx="1254279" cy="160393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EBD5C9-3827-7F83-D597-ADDA5813ED20}"/>
              </a:ext>
            </a:extLst>
          </p:cNvPr>
          <p:cNvSpPr/>
          <p:nvPr/>
        </p:nvSpPr>
        <p:spPr>
          <a:xfrm>
            <a:off x="1311782" y="5406912"/>
            <a:ext cx="1344132" cy="1418630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B8AB9-A439-F4A8-81E8-E4F54F2D3C28}"/>
              </a:ext>
            </a:extLst>
          </p:cNvPr>
          <p:cNvSpPr/>
          <p:nvPr/>
        </p:nvSpPr>
        <p:spPr>
          <a:xfrm>
            <a:off x="2708121" y="5281404"/>
            <a:ext cx="1254279" cy="151626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CBC96E-19B7-3CF0-EF99-9510E143D20F}"/>
              </a:ext>
            </a:extLst>
          </p:cNvPr>
          <p:cNvSpPr/>
          <p:nvPr/>
        </p:nvSpPr>
        <p:spPr>
          <a:xfrm>
            <a:off x="1311782" y="3670221"/>
            <a:ext cx="1344132" cy="14186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2BB027-E8E7-9580-730D-39D852776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0" y="31254"/>
            <a:ext cx="3733997" cy="344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714657-861E-0FD5-F685-694C71697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910839"/>
              </p:ext>
            </p:extLst>
          </p:nvPr>
        </p:nvGraphicFramePr>
        <p:xfrm>
          <a:off x="0" y="345875"/>
          <a:ext cx="6497053" cy="51125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2842">
                  <a:extLst>
                    <a:ext uri="{9D8B030D-6E8A-4147-A177-3AD203B41FA5}">
                      <a16:colId xmlns:a16="http://schemas.microsoft.com/office/drawing/2014/main" val="3702947862"/>
                    </a:ext>
                  </a:extLst>
                </a:gridCol>
                <a:gridCol w="721895">
                  <a:extLst>
                    <a:ext uri="{9D8B030D-6E8A-4147-A177-3AD203B41FA5}">
                      <a16:colId xmlns:a16="http://schemas.microsoft.com/office/drawing/2014/main" val="886131124"/>
                    </a:ext>
                  </a:extLst>
                </a:gridCol>
                <a:gridCol w="721895">
                  <a:extLst>
                    <a:ext uri="{9D8B030D-6E8A-4147-A177-3AD203B41FA5}">
                      <a16:colId xmlns:a16="http://schemas.microsoft.com/office/drawing/2014/main" val="3299881417"/>
                    </a:ext>
                  </a:extLst>
                </a:gridCol>
                <a:gridCol w="721895">
                  <a:extLst>
                    <a:ext uri="{9D8B030D-6E8A-4147-A177-3AD203B41FA5}">
                      <a16:colId xmlns:a16="http://schemas.microsoft.com/office/drawing/2014/main" val="2858506449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1948843431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1112593641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3067392260"/>
                    </a:ext>
                  </a:extLst>
                </a:gridCol>
              </a:tblGrid>
              <a:tr h="217249"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effectLst/>
                        </a:rPr>
                        <a:t>&gt;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Abouheif_and_moran_p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89066760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$Bac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85344235"/>
                  </a:ext>
                </a:extLst>
              </a:tr>
              <a:tr h="798579"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Stress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Rsqr</a:t>
                      </a:r>
                      <a:endParaRPr lang="en-US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49843053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1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Control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0.212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0.144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42846432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2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Control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0.166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0.159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93015139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3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MeJA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0.152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0.249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2203948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4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MeJA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0.149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0.257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6819466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5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0.108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0.236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4924049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6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0.138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0.206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9156753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49953790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$Fun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76257245"/>
                  </a:ext>
                </a:extLst>
              </a:tr>
              <a:tr h="798579"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Stress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Rsqr</a:t>
                      </a:r>
                      <a:endParaRPr lang="en-US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88166562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1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Control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0.126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0.430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01301578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2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Control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0.068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0.390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7207426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3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MeJA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0.215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0.444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75306059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4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MeJA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0.152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0.439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abouheif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49571471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5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0.221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0.685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moran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79534552"/>
                  </a:ext>
                </a:extLst>
              </a:tr>
              <a:tr h="217249">
                <a:tc>
                  <a:txBody>
                    <a:bodyPr/>
                    <a:lstStyle/>
                    <a:p>
                      <a:pPr algn="r" fontAlgn="b"/>
                      <a:r>
                        <a:rPr lang="en-NL" sz="1400" u="none" strike="noStrike">
                          <a:effectLst/>
                        </a:rPr>
                        <a:t>6</a:t>
                      </a:r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0.191</a:t>
                      </a:r>
                      <a:endParaRPr lang="en-NL" sz="1400" b="0" i="0" u="none" strike="noStrike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40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0.674</a:t>
                      </a:r>
                      <a:endParaRPr lang="en-NL" sz="1400" b="0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 err="1">
                          <a:effectLst/>
                        </a:rPr>
                        <a:t>abouheif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0280625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B3AD3B-2AE9-3792-3149-09D079F84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829235"/>
              </p:ext>
            </p:extLst>
          </p:nvPr>
        </p:nvGraphicFramePr>
        <p:xfrm>
          <a:off x="6827521" y="96254"/>
          <a:ext cx="5358062" cy="59002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6022">
                  <a:extLst>
                    <a:ext uri="{9D8B030D-6E8A-4147-A177-3AD203B41FA5}">
                      <a16:colId xmlns:a16="http://schemas.microsoft.com/office/drawing/2014/main" val="1776939617"/>
                    </a:ext>
                  </a:extLst>
                </a:gridCol>
                <a:gridCol w="1190680">
                  <a:extLst>
                    <a:ext uri="{9D8B030D-6E8A-4147-A177-3AD203B41FA5}">
                      <a16:colId xmlns:a16="http://schemas.microsoft.com/office/drawing/2014/main" val="2886479925"/>
                    </a:ext>
                  </a:extLst>
                </a:gridCol>
                <a:gridCol w="1190680">
                  <a:extLst>
                    <a:ext uri="{9D8B030D-6E8A-4147-A177-3AD203B41FA5}">
                      <a16:colId xmlns:a16="http://schemas.microsoft.com/office/drawing/2014/main" val="1238309886"/>
                    </a:ext>
                  </a:extLst>
                </a:gridCol>
                <a:gridCol w="1190680">
                  <a:extLst>
                    <a:ext uri="{9D8B030D-6E8A-4147-A177-3AD203B41FA5}">
                      <a16:colId xmlns:a16="http://schemas.microsoft.com/office/drawing/2014/main" val="2501498735"/>
                    </a:ext>
                  </a:extLst>
                </a:gridCol>
              </a:tblGrid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&gt;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extract_lambda_k_p</a:t>
                      </a:r>
                      <a:r>
                        <a:rPr lang="en-US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 err="1">
                          <a:effectLst/>
                        </a:rPr>
                        <a:t>m_neutral_lambda_k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626268"/>
                  </a:ext>
                </a:extLst>
              </a:tr>
              <a:tr h="1799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$Bac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293392028"/>
                  </a:ext>
                </a:extLst>
              </a:tr>
              <a:tr h="500023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 err="1">
                          <a:effectLst/>
                        </a:rPr>
                        <a:t>Phylogenetic_signal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p_value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909530187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0.02984678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0.9125842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1310409726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0.47544576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0.3743744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442905989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0.14966449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0.5770398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382018118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MeJA.2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0.46337989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0.3843844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4229726083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 dirty="0">
                          <a:effectLst/>
                        </a:rPr>
                        <a:t>0.18637642</a:t>
                      </a:r>
                      <a:endParaRPr lang="en-NL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0.5434872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184443198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0.47230584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0.3443443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3855576454"/>
                  </a:ext>
                </a:extLst>
              </a:tr>
              <a:tr h="179942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948517876"/>
                  </a:ext>
                </a:extLst>
              </a:tr>
              <a:tr h="1799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$Fun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417717627"/>
                  </a:ext>
                </a:extLst>
              </a:tr>
              <a:tr h="500023">
                <a:tc>
                  <a:txBody>
                    <a:bodyPr/>
                    <a:lstStyle/>
                    <a:p>
                      <a:pPr algn="l" fontAlgn="b"/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Phylogenetic_signal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p_value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3543880744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0.2407537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0.1442279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894972424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Control.2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0.2833333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0.8728729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2106949097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0.2006780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0.2922564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968432063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MeJA.2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0.3235352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0.7747748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3489957311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0.2421377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0.2794105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lambda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1291372618"/>
                  </a:ext>
                </a:extLst>
              </a:tr>
              <a:tr h="3354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SA.2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0.3963852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NL" sz="1100" u="none" strike="noStrike">
                          <a:effectLst/>
                        </a:rPr>
                        <a:t>0.5955956</a:t>
                      </a:r>
                      <a:endParaRPr lang="en-NL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596" marR="4596" marT="4596" marB="0" anchor="b"/>
                </a:tc>
                <a:extLst>
                  <a:ext uri="{0D108BD9-81ED-4DB2-BD59-A6C34878D82A}">
                    <a16:rowId xmlns:a16="http://schemas.microsoft.com/office/drawing/2014/main" val="314507358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9E51C21-FF62-1BBB-AF83-2456960B53F7}"/>
              </a:ext>
            </a:extLst>
          </p:cNvPr>
          <p:cNvSpPr txBox="1"/>
          <p:nvPr/>
        </p:nvSpPr>
        <p:spPr>
          <a:xfrm>
            <a:off x="333375" y="96254"/>
            <a:ext cx="492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Neutral model R and m against phylogenetic signal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3113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D9BB78-CF17-7C2E-1745-A9BBF114A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3" y="4337194"/>
            <a:ext cx="1744201" cy="1787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808D9F-71A8-499F-CC30-B1EC73FC097C}"/>
              </a:ext>
            </a:extLst>
          </p:cNvPr>
          <p:cNvSpPr txBox="1"/>
          <p:nvPr/>
        </p:nvSpPr>
        <p:spPr>
          <a:xfrm>
            <a:off x="229613" y="3974079"/>
            <a:ext cx="18832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O__</a:t>
            </a:r>
            <a:r>
              <a:rPr lang="en-US" sz="1600" b="1" dirty="0" err="1">
                <a:solidFill>
                  <a:srgbClr val="FF0000"/>
                </a:solidFill>
              </a:rPr>
              <a:t>Caulobacterales</a:t>
            </a:r>
            <a:endParaRPr lang="en-NL" sz="1600" b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DDF49-1EFB-B734-D0B7-1E1FEAD9F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3844" y="4275771"/>
            <a:ext cx="1864070" cy="1910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D01BB4-AD55-F00F-E12A-210216ED90BA}"/>
              </a:ext>
            </a:extLst>
          </p:cNvPr>
          <p:cNvSpPr txBox="1"/>
          <p:nvPr/>
        </p:nvSpPr>
        <p:spPr>
          <a:xfrm>
            <a:off x="3016413" y="3937217"/>
            <a:ext cx="1223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g__</a:t>
            </a:r>
            <a:r>
              <a:rPr lang="en-US" sz="1600" b="1" dirty="0" err="1">
                <a:solidFill>
                  <a:srgbClr val="FF0000"/>
                </a:solidFill>
              </a:rPr>
              <a:t>Massilia</a:t>
            </a:r>
            <a:endParaRPr lang="en-NL" sz="16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D4F9A5-1443-67F3-BE8B-E9025448A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646" y="4275770"/>
            <a:ext cx="1864070" cy="19103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314546-C08C-CD34-2B2D-D857EA69619E}"/>
              </a:ext>
            </a:extLst>
          </p:cNvPr>
          <p:cNvSpPr txBox="1"/>
          <p:nvPr/>
        </p:nvSpPr>
        <p:spPr>
          <a:xfrm>
            <a:off x="5981646" y="3745486"/>
            <a:ext cx="2183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Fungi, </a:t>
            </a:r>
            <a:r>
              <a:rPr lang="en-NL" dirty="0"/>
              <a:t>g__</a:t>
            </a:r>
            <a:r>
              <a:rPr lang="en-US" dirty="0" err="1"/>
              <a:t>Penicilium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7C03CE-93C0-036A-9750-F04A779D8E60}"/>
              </a:ext>
            </a:extLst>
          </p:cNvPr>
          <p:cNvSpPr txBox="1"/>
          <p:nvPr/>
        </p:nvSpPr>
        <p:spPr>
          <a:xfrm>
            <a:off x="1457173" y="160711"/>
            <a:ext cx="4904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Kendall, MY, no transformations, 3 neutral families</a:t>
            </a:r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953F2D-C63E-D87A-CD8D-183717984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751" y="1372730"/>
            <a:ext cx="1841927" cy="1721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36FB8F-4BCE-9067-4B19-9B5902813210}"/>
              </a:ext>
            </a:extLst>
          </p:cNvPr>
          <p:cNvSpPr txBox="1"/>
          <p:nvPr/>
        </p:nvSpPr>
        <p:spPr>
          <a:xfrm>
            <a:off x="3978751" y="868597"/>
            <a:ext cx="234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Above-Neutral ASVs</a:t>
            </a:r>
            <a:endParaRPr lang="en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2E59C9-51FF-F9A9-88B8-A9DE356E544E}"/>
              </a:ext>
            </a:extLst>
          </p:cNvPr>
          <p:cNvSpPr txBox="1"/>
          <p:nvPr/>
        </p:nvSpPr>
        <p:spPr>
          <a:xfrm>
            <a:off x="2038934" y="3363874"/>
            <a:ext cx="591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 to discussion: figures/plots details in specific taxonomies?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55263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869C38-EAB0-F377-4F4B-839D6A07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11" y="730111"/>
            <a:ext cx="5397777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9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1286</TotalTime>
  <Words>984</Words>
  <Application>Microsoft Office PowerPoint</Application>
  <PresentationFormat>Widescreen</PresentationFormat>
  <Paragraphs>570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Beschoren da Costa, Pedro</dc:creator>
  <cp:lastModifiedBy>Beschoren da Costa, Pedro</cp:lastModifiedBy>
  <cp:revision>19</cp:revision>
  <dcterms:created xsi:type="dcterms:W3CDTF">2023-03-24T12:56:44Z</dcterms:created>
  <dcterms:modified xsi:type="dcterms:W3CDTF">2023-04-04T16:02:00Z</dcterms:modified>
</cp:coreProperties>
</file>